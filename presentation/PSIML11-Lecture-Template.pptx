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B8D7404-D6BE-44C7-8BD2-F99EC50911EB}">
  <a:tblStyle styleId="{6B8D7404-D6BE-44C7-8BD2-F99EC50911E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LAYOUT: Title (dark). Replace title, subtitle, name. Keep the mascot lockup and footer.</a:t>
            </a:r>
            <a:endParaRPr/>
          </a:p>
        </p:txBody>
      </p:sp>
      <p:sp>
        <p:nvSpPr>
          <p:cNvPr id="59" name="Google Shape;5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LAYOUT: Agenda, 2x2 cards. For 3 items delete one card group; for 6, add a row and cut card height to 1.5".</a:t>
            </a:r>
            <a:endParaRPr/>
          </a:p>
        </p:txBody>
      </p:sp>
      <p:sp>
        <p:nvSpPr>
          <p:cNvPr id="88" name="Google Shape;8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LAYOUT: Section divider (dark). One before each part. The oversized numeral on the right is decorative — keep it in sync with the kicker.</a:t>
            </a:r>
            <a:endParaRPr/>
          </a:p>
        </p:txBody>
      </p:sp>
      <p:sp>
        <p:nvSpPr>
          <p:cNvPr id="115" name="Google Shape;11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LAYOUT: Bullets + stat callout. Use when one number carries the argument.</a:t>
            </a:r>
            <a:endParaRPr/>
          </a:p>
        </p:txBody>
      </p:sp>
      <p:sp>
        <p:nvSpPr>
          <p:cNvPr id="123" name="Google Shape;12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LAYOUT: Two column, explanation left, figure right. Drop your image onto the white card and keep the caption.</a:t>
            </a:r>
            <a:endParaRPr/>
          </a:p>
        </p:txBody>
      </p:sp>
      <p:sp>
        <p:nvSpPr>
          <p:cNvPr id="137" name="Google Shape;13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LAYOUT: Equation band + symbol glossary. For real math use Insert &gt; Equation so it stays editable.</a:t>
            </a:r>
            <a:endParaRPr/>
          </a:p>
        </p:txBody>
      </p:sp>
      <p:sp>
        <p:nvSpPr>
          <p:cNvPr id="174" name="Google Shape;17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LAYOUT: Code. Keep snippets under ~12 lines at 13pt. Longer code belongs in the notebook.</a:t>
            </a:r>
            <a:endParaRPr/>
          </a:p>
        </p:txBody>
      </p:sp>
      <p:sp>
        <p:nvSpPr>
          <p:cNvPr id="192" name="Google Shape;19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LAYOUT: Process flow, 4 steps. For 5 steps use width 2.15" and spacing 2.5".</a:t>
            </a:r>
            <a:endParaRPr/>
          </a:p>
        </p:txBody>
      </p:sp>
      <p:sp>
        <p:nvSpPr>
          <p:cNvPr id="204" name="Google Shape;20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LAYOUT: Native chart + takeaway column. Right-click the chart &gt; Edit Data to change numbers.</a:t>
            </a:r>
            <a:endParaRPr/>
          </a:p>
        </p:txBody>
      </p:sp>
      <p:sp>
        <p:nvSpPr>
          <p:cNvPr id="235" name="Google Shape;23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LAYOUT: Two-up comparison cards. Use instead of a table when each side needs 3-5 points rather than matched cells.</a:t>
            </a:r>
            <a:endParaRPr/>
          </a:p>
        </p:txBody>
      </p:sp>
      <p:sp>
        <p:nvSpPr>
          <p:cNvPr id="246" name="Google Shape;24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LAYOUT: Comparison table. Keep to 3 columns and 5 rows so text stays at 14pt.</a:t>
            </a:r>
            <a:endParaRPr/>
          </a:p>
        </p:txBody>
      </p:sp>
      <p:sp>
        <p:nvSpPr>
          <p:cNvPr id="263" name="Google Shape;26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LAYOUT: Full-width figure on the Canvas master (title only, no body placeholder). Delete the tiles, paste your image, size to 12.4" max.</a:t>
            </a:r>
            <a:endParaRPr/>
          </a:p>
        </p:txBody>
      </p:sp>
      <p:sp>
        <p:nvSpPr>
          <p:cNvPr id="272" name="Google Shape;27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LAYOUT: Image grid, 2x2. Replace each grey block with a picture; keep the label and one-line caption beside it.</a:t>
            </a:r>
            <a:endParaRPr/>
          </a:p>
        </p:txBody>
      </p:sp>
      <p:sp>
        <p:nvSpPr>
          <p:cNvPr id="341" name="Google Shape;34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LAYOUT: Split panel. Dark panel states the concept, light side carries the detail. Good for one idea per slide.</a:t>
            </a:r>
            <a:endParaRPr/>
          </a:p>
        </p:txBody>
      </p:sp>
      <p:sp>
        <p:nvSpPr>
          <p:cNvPr id="368" name="Google Shape;36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LAYOUT: Stat trio (dark). Three numbers, one line each. Do not add a fourth — it breaks the rhythm and the sizing.</a:t>
            </a:r>
            <a:endParaRPr/>
          </a:p>
        </p:txBody>
      </p:sp>
      <p:sp>
        <p:nvSpPr>
          <p:cNvPr id="378" name="Google Shape;37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LAYOUT: Pull statement (dark). One sentence you want remembered. Use at most twice per lecture.</a:t>
            </a:r>
            <a:endParaRPr/>
          </a:p>
        </p:txBody>
      </p:sp>
      <p:sp>
        <p:nvSpPr>
          <p:cNvPr id="393" name="Google Shape;39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LAYOUT: Key concept callout. Definition on the dark band, three practical notes below. One concept per slide.</a:t>
            </a:r>
            <a:endParaRPr/>
          </a:p>
        </p:txBody>
      </p:sp>
      <p:sp>
        <p:nvSpPr>
          <p:cNvPr id="401" name="Google Shape;40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LAYOUT: Hands-on exercise. Put the timebox in the title so students can pace themselves. Keep tasks to four.</a:t>
            </a:r>
            <a:endParaRPr/>
          </a:p>
        </p:txBody>
      </p:sp>
      <p:sp>
        <p:nvSpPr>
          <p:cNvPr id="420" name="Google Shape;42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LAYOUT: Takeaways (dark). Three points, one supporting line each. Say them verbatim — students write these down.</a:t>
            </a:r>
            <a:endParaRPr/>
          </a:p>
        </p:txBody>
      </p:sp>
      <p:sp>
        <p:nvSpPr>
          <p:cNvPr id="444" name="Google Shape;44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LAYOUT: Closing (dark). Swap contact details and cite the papers you actually used.</a:t>
            </a:r>
            <a:endParaRPr/>
          </a:p>
        </p:txBody>
      </p:sp>
      <p:sp>
        <p:nvSpPr>
          <p:cNvPr id="465" name="Google Shape;465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SIML_TITLE">
  <p:cSld name="PSIML_TITLE">
    <p:bg>
      <p:bgPr>
        <a:solidFill>
          <a:srgbClr val="0C2233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siml/mascot.png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0080" y="566928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/>
          <p:nvPr/>
        </p:nvSpPr>
        <p:spPr>
          <a:xfrm>
            <a:off x="1371600" y="566928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9F2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19F22"/>
                </a:solidFill>
                <a:latin typeface="Calibri"/>
                <a:ea typeface="Calibri"/>
                <a:cs typeface="Calibri"/>
                <a:sym typeface="Calibri"/>
              </a:rPr>
              <a:t>PSIML 11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640080" y="1554480"/>
            <a:ext cx="69494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  <a:defRPr b="1" i="0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640080" y="3291840"/>
            <a:ext cx="6583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Clr>
                <a:srgbClr val="95E1D9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95E1D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640080" y="4754880"/>
            <a:ext cx="6583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2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2"/>
          <p:cNvSpPr/>
          <p:nvPr/>
        </p:nvSpPr>
        <p:spPr>
          <a:xfrm>
            <a:off x="640080" y="6080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5B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A5B72"/>
                </a:solidFill>
                <a:latin typeface="Calibri"/>
                <a:ea typeface="Calibri"/>
                <a:cs typeface="Calibri"/>
                <a:sym typeface="Calibri"/>
              </a:rPr>
              <a:t>PSIML 11  ·  Kastel Ečka  ·  5–16 August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SIML_CANVAS">
  <p:cSld name="PSIML_CANVAS">
    <p:bg>
      <p:bgPr>
        <a:solidFill>
          <a:srgbClr val="F2F8F7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siml/mascot.png" id="19" name="Google Shape;19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37392" y="42062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type="title"/>
          </p:nvPr>
        </p:nvSpPr>
        <p:spPr>
          <a:xfrm>
            <a:off x="640080" y="502920"/>
            <a:ext cx="10241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C2233"/>
              </a:buClr>
              <a:buSzPts val="3200"/>
              <a:buFont typeface="Cambria"/>
              <a:buNone/>
              <a:defRPr b="1" i="0" sz="3200" u="none" cap="none" strike="noStrike">
                <a:solidFill>
                  <a:srgbClr val="0C2233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" name="Google Shape;21;p3"/>
          <p:cNvSpPr/>
          <p:nvPr/>
        </p:nvSpPr>
        <p:spPr>
          <a:xfrm>
            <a:off x="64008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48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rPr>
              <a:t>PSIML 11  ·  Kastel Ečka  ·  5–16 August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11338560" y="62636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SIML_SECTION">
  <p:cSld name="PSIML_SECTION">
    <p:bg>
      <p:bgPr>
        <a:solidFill>
          <a:srgbClr val="0C2233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siml/mascot.png" id="24" name="Google Shape;24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0080" y="566928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/>
          <p:nvPr/>
        </p:nvSpPr>
        <p:spPr>
          <a:xfrm>
            <a:off x="1371600" y="566928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9F2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19F22"/>
                </a:solidFill>
                <a:latin typeface="Calibri"/>
                <a:ea typeface="Calibri"/>
                <a:cs typeface="Calibri"/>
                <a:sym typeface="Calibri"/>
              </a:rPr>
              <a:t>PSIML 11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640080" y="25146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00"/>
              </a:spcBef>
              <a:spcAft>
                <a:spcPts val="0"/>
              </a:spcAft>
              <a:buClr>
                <a:srgbClr val="F19F22"/>
              </a:buClr>
              <a:buSzPts val="1500"/>
              <a:buFont typeface="Arial"/>
              <a:buNone/>
              <a:defRPr b="1" i="0" sz="1500" u="none" cap="none" strike="noStrike">
                <a:solidFill>
                  <a:srgbClr val="F19F2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640080" y="3017520"/>
            <a:ext cx="76809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  <a:defRPr b="1" i="0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8" name="Google Shape;28;p4"/>
          <p:cNvSpPr/>
          <p:nvPr/>
        </p:nvSpPr>
        <p:spPr>
          <a:xfrm>
            <a:off x="64008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5B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5B72"/>
                </a:solidFill>
                <a:latin typeface="Calibri"/>
                <a:ea typeface="Calibri"/>
                <a:cs typeface="Calibri"/>
                <a:sym typeface="Calibri"/>
              </a:rPr>
              <a:t>PSIML 11  ·  Kastel Ečka  ·  5–16 August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SIML_CONTENT">
  <p:cSld name="PSIML_CONTENT">
    <p:bg>
      <p:bgPr>
        <a:solidFill>
          <a:srgbClr val="F2F8F7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siml/mascot.png" id="30" name="Google Shape;30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37392" y="42062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5"/>
          <p:cNvSpPr txBox="1"/>
          <p:nvPr>
            <p:ph type="title"/>
          </p:nvPr>
        </p:nvSpPr>
        <p:spPr>
          <a:xfrm>
            <a:off x="640080" y="502920"/>
            <a:ext cx="10241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C2233"/>
              </a:buClr>
              <a:buSzPts val="3200"/>
              <a:buFont typeface="Cambria"/>
              <a:buNone/>
              <a:defRPr b="1" i="0" sz="3200" u="none" cap="none" strike="noStrike">
                <a:solidFill>
                  <a:srgbClr val="0C2233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640080" y="1508760"/>
            <a:ext cx="1088136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20"/>
              </a:spcBef>
              <a:spcAft>
                <a:spcPts val="0"/>
              </a:spcAft>
              <a:buClr>
                <a:srgbClr val="23404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23404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5"/>
          <p:cNvSpPr/>
          <p:nvPr/>
        </p:nvSpPr>
        <p:spPr>
          <a:xfrm>
            <a:off x="64008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48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rPr>
              <a:t>PSIML 11  ·  Kastel Ečka  ·  5–16 August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11338560" y="62636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SIML_TWO_COLUMN">
  <p:cSld name="PSIML_TWO_COLUMN">
    <p:bg>
      <p:bgPr>
        <a:solidFill>
          <a:srgbClr val="F2F8F7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siml/mascot.png" id="36" name="Google Shape;36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37392" y="42062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6"/>
          <p:cNvSpPr txBox="1"/>
          <p:nvPr>
            <p:ph type="title"/>
          </p:nvPr>
        </p:nvSpPr>
        <p:spPr>
          <a:xfrm>
            <a:off x="640080" y="502920"/>
            <a:ext cx="10241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C2233"/>
              </a:buClr>
              <a:buSzPts val="3200"/>
              <a:buFont typeface="Cambria"/>
              <a:buNone/>
              <a:defRPr b="1" i="0" sz="3200" u="none" cap="none" strike="noStrike">
                <a:solidFill>
                  <a:srgbClr val="0C2233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640080" y="1508760"/>
            <a:ext cx="521208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20"/>
              </a:spcBef>
              <a:spcAft>
                <a:spcPts val="0"/>
              </a:spcAft>
              <a:buClr>
                <a:srgbClr val="23404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23404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6309360" y="1508760"/>
            <a:ext cx="521208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20"/>
              </a:spcBef>
              <a:spcAft>
                <a:spcPts val="0"/>
              </a:spcAft>
              <a:buClr>
                <a:srgbClr val="23404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23404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/>
          <p:nvPr/>
        </p:nvSpPr>
        <p:spPr>
          <a:xfrm>
            <a:off x="64008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48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rPr>
              <a:t>PSIML 11  ·  Kastel Ečka  ·  5–16 August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11338560" y="62636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SIML_SPLIT">
  <p:cSld name="PSIML_SPLIT">
    <p:bg>
      <p:bgPr>
        <a:solidFill>
          <a:srgbClr val="F2F8F7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/>
          <p:nvPr/>
        </p:nvSpPr>
        <p:spPr>
          <a:xfrm>
            <a:off x="0" y="0"/>
            <a:ext cx="4892040" cy="6858000"/>
          </a:xfrm>
          <a:prstGeom prst="rect">
            <a:avLst/>
          </a:prstGeom>
          <a:solidFill>
            <a:srgbClr val="0C22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siml/mascot.png" id="44" name="Google Shape;44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4360" y="4572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/>
          <p:nvPr>
            <p:ph idx="1" type="body"/>
          </p:nvPr>
        </p:nvSpPr>
        <p:spPr>
          <a:xfrm>
            <a:off x="594360" y="1417320"/>
            <a:ext cx="37490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2" type="body"/>
          </p:nvPr>
        </p:nvSpPr>
        <p:spPr>
          <a:xfrm>
            <a:off x="594360" y="3063240"/>
            <a:ext cx="37490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00"/>
              </a:spcBef>
              <a:spcAft>
                <a:spcPts val="0"/>
              </a:spcAft>
              <a:buClr>
                <a:srgbClr val="95E1D9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95E1D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3" type="body"/>
          </p:nvPr>
        </p:nvSpPr>
        <p:spPr>
          <a:xfrm>
            <a:off x="5486400" y="1188720"/>
            <a:ext cx="6035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520"/>
              </a:spcBef>
              <a:spcAft>
                <a:spcPts val="0"/>
              </a:spcAft>
              <a:buClr>
                <a:srgbClr val="0C2233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0C2233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4" type="body"/>
          </p:nvPr>
        </p:nvSpPr>
        <p:spPr>
          <a:xfrm>
            <a:off x="5486400" y="1874520"/>
            <a:ext cx="603504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20"/>
              </a:spcBef>
              <a:spcAft>
                <a:spcPts val="0"/>
              </a:spcAft>
              <a:buClr>
                <a:srgbClr val="23404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23404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7"/>
          <p:cNvSpPr/>
          <p:nvPr/>
        </p:nvSpPr>
        <p:spPr>
          <a:xfrm>
            <a:off x="5486400" y="62636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48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rPr>
              <a:t>PSIML 11  ·  Kastel Ečka  ·  5–16 August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11338560" y="62636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SIML_DARK">
  <p:cSld name="PSIML_DARK">
    <p:bg>
      <p:bgPr>
        <a:solidFill>
          <a:srgbClr val="0C2233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siml/mascot.png" id="52" name="Google Shape;5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37392" y="42062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/>
          <p:nvPr>
            <p:ph type="title"/>
          </p:nvPr>
        </p:nvSpPr>
        <p:spPr>
          <a:xfrm>
            <a:off x="640080" y="502920"/>
            <a:ext cx="10241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  <a:defRPr b="1" i="0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4" name="Google Shape;54;p8"/>
          <p:cNvSpPr/>
          <p:nvPr/>
        </p:nvSpPr>
        <p:spPr>
          <a:xfrm>
            <a:off x="64008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5B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5B72"/>
                </a:solidFill>
                <a:latin typeface="Calibri"/>
                <a:ea typeface="Calibri"/>
                <a:cs typeface="Calibri"/>
                <a:sym typeface="Calibri"/>
              </a:rPr>
              <a:t>PSIML 11  ·  Kastel Ečka  ·  5–16 August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338560" y="62636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type="title"/>
          </p:nvPr>
        </p:nvSpPr>
        <p:spPr>
          <a:xfrm>
            <a:off x="640080" y="1554480"/>
            <a:ext cx="69494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lang="en-US" sz="4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Convolutional Neural Networks</a:t>
            </a:r>
            <a:endParaRPr sz="4400"/>
          </a:p>
        </p:txBody>
      </p:sp>
      <p:sp>
        <p:nvSpPr>
          <p:cNvPr id="62" name="Google Shape;62;p10"/>
          <p:cNvSpPr txBox="1"/>
          <p:nvPr>
            <p:ph idx="1" type="body"/>
          </p:nvPr>
        </p:nvSpPr>
        <p:spPr>
          <a:xfrm>
            <a:off x="640080" y="3291840"/>
            <a:ext cx="6583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5E1D9"/>
              </a:buClr>
              <a:buSzPts val="1800"/>
              <a:buNone/>
            </a:pPr>
            <a:r>
              <a:rPr lang="en-US" sz="1800">
                <a:solidFill>
                  <a:srgbClr val="95E1D9"/>
                </a:solidFill>
                <a:latin typeface="Calibri"/>
                <a:ea typeface="Calibri"/>
                <a:cs typeface="Calibri"/>
                <a:sym typeface="Calibri"/>
              </a:rPr>
              <a:t>From the convolution operator to modern vision backbones</a:t>
            </a:r>
            <a:endParaRPr sz="1800"/>
          </a:p>
        </p:txBody>
      </p:sp>
      <p:sp>
        <p:nvSpPr>
          <p:cNvPr id="63" name="Google Shape;63;p10"/>
          <p:cNvSpPr txBox="1"/>
          <p:nvPr>
            <p:ph idx="2" type="body"/>
          </p:nvPr>
        </p:nvSpPr>
        <p:spPr>
          <a:xfrm>
            <a:off x="640080" y="4754880"/>
            <a:ext cx="6583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Ime Prezime</a:t>
            </a:r>
            <a:endParaRPr sz="1600"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rgbClr val="95E1D9"/>
              </a:buClr>
              <a:buSzPts val="1400"/>
              <a:buNone/>
            </a:pPr>
            <a:r>
              <a:rPr lang="en-US" sz="1400">
                <a:solidFill>
                  <a:srgbClr val="95E1D9"/>
                </a:solidFill>
                <a:latin typeface="Calibri"/>
                <a:ea typeface="Calibri"/>
                <a:cs typeface="Calibri"/>
                <a:sym typeface="Calibri"/>
              </a:rPr>
              <a:t>Affiliation / Company  ·  ime.prezime@example.com</a:t>
            </a:r>
            <a:endParaRPr sz="1600"/>
          </a:p>
        </p:txBody>
      </p:sp>
      <p:cxnSp>
        <p:nvCxnSpPr>
          <p:cNvPr id="64" name="Google Shape;64;p10"/>
          <p:cNvCxnSpPr/>
          <p:nvPr/>
        </p:nvCxnSpPr>
        <p:spPr>
          <a:xfrm flipH="1" rot="10800000">
            <a:off x="8878824" y="1472184"/>
            <a:ext cx="1188720" cy="457200"/>
          </a:xfrm>
          <a:prstGeom prst="straightConnector1">
            <a:avLst/>
          </a:prstGeom>
          <a:noFill/>
          <a:ln cap="flat" cmpd="sng" w="15875">
            <a:solidFill>
              <a:srgbClr val="146B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" name="Google Shape;65;p10"/>
          <p:cNvCxnSpPr/>
          <p:nvPr/>
        </p:nvCxnSpPr>
        <p:spPr>
          <a:xfrm>
            <a:off x="8878824" y="1929384"/>
            <a:ext cx="1188720" cy="548640"/>
          </a:xfrm>
          <a:prstGeom prst="straightConnector1">
            <a:avLst/>
          </a:prstGeom>
          <a:noFill/>
          <a:ln cap="flat" cmpd="sng" w="15875">
            <a:solidFill>
              <a:srgbClr val="146B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" name="Google Shape;66;p10"/>
          <p:cNvCxnSpPr/>
          <p:nvPr/>
        </p:nvCxnSpPr>
        <p:spPr>
          <a:xfrm flipH="1" rot="10800000">
            <a:off x="8878824" y="2478024"/>
            <a:ext cx="1188720" cy="457200"/>
          </a:xfrm>
          <a:prstGeom prst="straightConnector1">
            <a:avLst/>
          </a:prstGeom>
          <a:noFill/>
          <a:ln cap="flat" cmpd="sng" w="15875">
            <a:solidFill>
              <a:srgbClr val="146B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" name="Google Shape;67;p10"/>
          <p:cNvCxnSpPr/>
          <p:nvPr/>
        </p:nvCxnSpPr>
        <p:spPr>
          <a:xfrm>
            <a:off x="8878824" y="2935224"/>
            <a:ext cx="1188720" cy="548640"/>
          </a:xfrm>
          <a:prstGeom prst="straightConnector1">
            <a:avLst/>
          </a:prstGeom>
          <a:noFill/>
          <a:ln cap="flat" cmpd="sng" w="15875">
            <a:solidFill>
              <a:srgbClr val="146B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" name="Google Shape;68;p10"/>
          <p:cNvCxnSpPr/>
          <p:nvPr/>
        </p:nvCxnSpPr>
        <p:spPr>
          <a:xfrm flipH="1" rot="10800000">
            <a:off x="8878824" y="3483864"/>
            <a:ext cx="1188720" cy="457200"/>
          </a:xfrm>
          <a:prstGeom prst="straightConnector1">
            <a:avLst/>
          </a:prstGeom>
          <a:noFill/>
          <a:ln cap="flat" cmpd="sng" w="15875">
            <a:solidFill>
              <a:srgbClr val="146B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" name="Google Shape;69;p10"/>
          <p:cNvCxnSpPr/>
          <p:nvPr/>
        </p:nvCxnSpPr>
        <p:spPr>
          <a:xfrm>
            <a:off x="8878824" y="3941064"/>
            <a:ext cx="1188720" cy="548640"/>
          </a:xfrm>
          <a:prstGeom prst="straightConnector1">
            <a:avLst/>
          </a:prstGeom>
          <a:noFill/>
          <a:ln cap="flat" cmpd="sng" w="15875">
            <a:solidFill>
              <a:srgbClr val="146B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p10"/>
          <p:cNvCxnSpPr/>
          <p:nvPr/>
        </p:nvCxnSpPr>
        <p:spPr>
          <a:xfrm>
            <a:off x="10067544" y="1472184"/>
            <a:ext cx="1188720" cy="1005840"/>
          </a:xfrm>
          <a:prstGeom prst="straightConnector1">
            <a:avLst/>
          </a:prstGeom>
          <a:noFill/>
          <a:ln cap="flat" cmpd="sng" w="15875">
            <a:solidFill>
              <a:srgbClr val="146B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10"/>
          <p:cNvCxnSpPr/>
          <p:nvPr/>
        </p:nvCxnSpPr>
        <p:spPr>
          <a:xfrm>
            <a:off x="10067544" y="2478024"/>
            <a:ext cx="1188720" cy="0"/>
          </a:xfrm>
          <a:prstGeom prst="straightConnector1">
            <a:avLst/>
          </a:prstGeom>
          <a:noFill/>
          <a:ln cap="flat" cmpd="sng" w="15875">
            <a:solidFill>
              <a:srgbClr val="146B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" name="Google Shape;72;p10"/>
          <p:cNvCxnSpPr/>
          <p:nvPr/>
        </p:nvCxnSpPr>
        <p:spPr>
          <a:xfrm>
            <a:off x="10067544" y="3483864"/>
            <a:ext cx="1188720" cy="0"/>
          </a:xfrm>
          <a:prstGeom prst="straightConnector1">
            <a:avLst/>
          </a:prstGeom>
          <a:noFill/>
          <a:ln cap="flat" cmpd="sng" w="15875">
            <a:solidFill>
              <a:srgbClr val="146B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" name="Google Shape;73;p10"/>
          <p:cNvCxnSpPr/>
          <p:nvPr/>
        </p:nvCxnSpPr>
        <p:spPr>
          <a:xfrm flipH="1" rot="10800000">
            <a:off x="10067544" y="3483864"/>
            <a:ext cx="1188720" cy="1005840"/>
          </a:xfrm>
          <a:prstGeom prst="straightConnector1">
            <a:avLst/>
          </a:prstGeom>
          <a:noFill/>
          <a:ln cap="flat" cmpd="sng" w="15875">
            <a:solidFill>
              <a:srgbClr val="146B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" name="Google Shape;74;p10"/>
          <p:cNvCxnSpPr/>
          <p:nvPr/>
        </p:nvCxnSpPr>
        <p:spPr>
          <a:xfrm>
            <a:off x="10067544" y="2478024"/>
            <a:ext cx="1188720" cy="1005840"/>
          </a:xfrm>
          <a:prstGeom prst="straightConnector1">
            <a:avLst/>
          </a:prstGeom>
          <a:noFill/>
          <a:ln cap="flat" cmpd="sng" w="15875">
            <a:solidFill>
              <a:srgbClr val="146B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" name="Google Shape;75;p10"/>
          <p:cNvCxnSpPr/>
          <p:nvPr/>
        </p:nvCxnSpPr>
        <p:spPr>
          <a:xfrm flipH="1" rot="10800000">
            <a:off x="10067544" y="2478024"/>
            <a:ext cx="1188720" cy="1005840"/>
          </a:xfrm>
          <a:prstGeom prst="straightConnector1">
            <a:avLst/>
          </a:prstGeom>
          <a:noFill/>
          <a:ln cap="flat" cmpd="sng" w="15875">
            <a:solidFill>
              <a:srgbClr val="146B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10"/>
          <p:cNvSpPr/>
          <p:nvPr/>
        </p:nvSpPr>
        <p:spPr>
          <a:xfrm>
            <a:off x="8778240" y="1828800"/>
            <a:ext cx="201168" cy="201168"/>
          </a:xfrm>
          <a:prstGeom prst="ellipse">
            <a:avLst/>
          </a:prstGeom>
          <a:solidFill>
            <a:srgbClr val="F19F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0"/>
          <p:cNvSpPr/>
          <p:nvPr/>
        </p:nvSpPr>
        <p:spPr>
          <a:xfrm>
            <a:off x="8778240" y="2834640"/>
            <a:ext cx="201168" cy="201168"/>
          </a:xfrm>
          <a:prstGeom prst="ellipse">
            <a:avLst/>
          </a:prstGeom>
          <a:solidFill>
            <a:srgbClr val="6EC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0"/>
          <p:cNvSpPr/>
          <p:nvPr/>
        </p:nvSpPr>
        <p:spPr>
          <a:xfrm>
            <a:off x="8778240" y="3840480"/>
            <a:ext cx="201168" cy="201168"/>
          </a:xfrm>
          <a:prstGeom prst="ellipse">
            <a:avLst/>
          </a:prstGeom>
          <a:solidFill>
            <a:srgbClr val="6EC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0"/>
          <p:cNvSpPr/>
          <p:nvPr/>
        </p:nvSpPr>
        <p:spPr>
          <a:xfrm>
            <a:off x="9966960" y="1371600"/>
            <a:ext cx="201168" cy="201168"/>
          </a:xfrm>
          <a:prstGeom prst="ellipse">
            <a:avLst/>
          </a:prstGeom>
          <a:solidFill>
            <a:srgbClr val="F19F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0"/>
          <p:cNvSpPr/>
          <p:nvPr/>
        </p:nvSpPr>
        <p:spPr>
          <a:xfrm>
            <a:off x="9966960" y="2377440"/>
            <a:ext cx="201168" cy="201168"/>
          </a:xfrm>
          <a:prstGeom prst="ellipse">
            <a:avLst/>
          </a:prstGeom>
          <a:solidFill>
            <a:srgbClr val="6EC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0"/>
          <p:cNvSpPr/>
          <p:nvPr/>
        </p:nvSpPr>
        <p:spPr>
          <a:xfrm>
            <a:off x="9966960" y="3383280"/>
            <a:ext cx="201168" cy="201168"/>
          </a:xfrm>
          <a:prstGeom prst="ellipse">
            <a:avLst/>
          </a:prstGeom>
          <a:solidFill>
            <a:srgbClr val="6EC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0"/>
          <p:cNvSpPr/>
          <p:nvPr/>
        </p:nvSpPr>
        <p:spPr>
          <a:xfrm>
            <a:off x="9966960" y="4389120"/>
            <a:ext cx="201168" cy="201168"/>
          </a:xfrm>
          <a:prstGeom prst="ellipse">
            <a:avLst/>
          </a:prstGeom>
          <a:solidFill>
            <a:srgbClr val="F19F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0"/>
          <p:cNvSpPr/>
          <p:nvPr/>
        </p:nvSpPr>
        <p:spPr>
          <a:xfrm>
            <a:off x="11155680" y="2377440"/>
            <a:ext cx="201168" cy="201168"/>
          </a:xfrm>
          <a:prstGeom prst="ellipse">
            <a:avLst/>
          </a:prstGeom>
          <a:solidFill>
            <a:srgbClr val="6EC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0"/>
          <p:cNvSpPr/>
          <p:nvPr/>
        </p:nvSpPr>
        <p:spPr>
          <a:xfrm>
            <a:off x="11155680" y="3383280"/>
            <a:ext cx="201168" cy="201168"/>
          </a:xfrm>
          <a:prstGeom prst="ellipse">
            <a:avLst/>
          </a:prstGeom>
          <a:solidFill>
            <a:srgbClr val="6EC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"/>
          <p:cNvSpPr txBox="1"/>
          <p:nvPr>
            <p:ph type="title"/>
          </p:nvPr>
        </p:nvSpPr>
        <p:spPr>
          <a:xfrm>
            <a:off x="640080" y="502920"/>
            <a:ext cx="10241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C2233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0C2233"/>
                </a:solidFill>
                <a:latin typeface="Cambria"/>
                <a:ea typeface="Cambria"/>
                <a:cs typeface="Cambria"/>
                <a:sym typeface="Cambria"/>
              </a:rPr>
              <a:t>What we will cover</a:t>
            </a:r>
            <a:endParaRPr sz="3200"/>
          </a:p>
        </p:txBody>
      </p:sp>
      <p:sp>
        <p:nvSpPr>
          <p:cNvPr id="91" name="Google Shape;91;p11"/>
          <p:cNvSpPr/>
          <p:nvPr/>
        </p:nvSpPr>
        <p:spPr>
          <a:xfrm>
            <a:off x="640080" y="1600200"/>
            <a:ext cx="5303520" cy="1874520"/>
          </a:xfrm>
          <a:prstGeom prst="roundRect">
            <a:avLst>
              <a:gd fmla="val 439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25400">
              <a:srgbClr val="0C22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1"/>
          <p:cNvSpPr/>
          <p:nvPr/>
        </p:nvSpPr>
        <p:spPr>
          <a:xfrm>
            <a:off x="960120" y="1947672"/>
            <a:ext cx="502920" cy="502920"/>
          </a:xfrm>
          <a:prstGeom prst="ellipse">
            <a:avLst/>
          </a:prstGeom>
          <a:solidFill>
            <a:srgbClr val="146B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1"/>
          <p:cNvSpPr/>
          <p:nvPr/>
        </p:nvSpPr>
        <p:spPr>
          <a:xfrm>
            <a:off x="960120" y="194767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1"/>
          <p:cNvSpPr/>
          <p:nvPr/>
        </p:nvSpPr>
        <p:spPr>
          <a:xfrm>
            <a:off x="1600200" y="1929384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233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0C2233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1"/>
          <p:cNvSpPr/>
          <p:nvPr/>
        </p:nvSpPr>
        <p:spPr>
          <a:xfrm>
            <a:off x="1600200" y="2404872"/>
            <a:ext cx="4023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A748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rPr>
              <a:t>Why fully-connected layers fail on images: parameter count, no translation equivariance.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1"/>
          <p:cNvSpPr/>
          <p:nvPr/>
        </p:nvSpPr>
        <p:spPr>
          <a:xfrm>
            <a:off x="6217920" y="1600200"/>
            <a:ext cx="5303520" cy="1874520"/>
          </a:xfrm>
          <a:prstGeom prst="roundRect">
            <a:avLst>
              <a:gd fmla="val 439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25400">
              <a:srgbClr val="0C22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1"/>
          <p:cNvSpPr/>
          <p:nvPr/>
        </p:nvSpPr>
        <p:spPr>
          <a:xfrm>
            <a:off x="6537960" y="1947672"/>
            <a:ext cx="502920" cy="502920"/>
          </a:xfrm>
          <a:prstGeom prst="ellipse">
            <a:avLst/>
          </a:prstGeom>
          <a:solidFill>
            <a:srgbClr val="146B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1"/>
          <p:cNvSpPr/>
          <p:nvPr/>
        </p:nvSpPr>
        <p:spPr>
          <a:xfrm>
            <a:off x="6537960" y="194767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1"/>
          <p:cNvSpPr/>
          <p:nvPr/>
        </p:nvSpPr>
        <p:spPr>
          <a:xfrm>
            <a:off x="7178040" y="1929384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233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0C2233"/>
                </a:solidFill>
                <a:latin typeface="Calibri"/>
                <a:ea typeface="Calibri"/>
                <a:cs typeface="Calibri"/>
                <a:sym typeface="Calibri"/>
              </a:rPr>
              <a:t>The convolution operator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1"/>
          <p:cNvSpPr/>
          <p:nvPr/>
        </p:nvSpPr>
        <p:spPr>
          <a:xfrm>
            <a:off x="7178040" y="2404872"/>
            <a:ext cx="4023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A748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rPr>
              <a:t>Kernels, stride, padding, dilation, receptive field arithmetic.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1"/>
          <p:cNvSpPr/>
          <p:nvPr/>
        </p:nvSpPr>
        <p:spPr>
          <a:xfrm>
            <a:off x="640080" y="3749040"/>
            <a:ext cx="5303520" cy="1874520"/>
          </a:xfrm>
          <a:prstGeom prst="roundRect">
            <a:avLst>
              <a:gd fmla="val 439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25400">
              <a:srgbClr val="0C22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1"/>
          <p:cNvSpPr/>
          <p:nvPr/>
        </p:nvSpPr>
        <p:spPr>
          <a:xfrm>
            <a:off x="960120" y="4096512"/>
            <a:ext cx="502920" cy="502920"/>
          </a:xfrm>
          <a:prstGeom prst="ellipse">
            <a:avLst/>
          </a:prstGeom>
          <a:solidFill>
            <a:srgbClr val="146B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1"/>
          <p:cNvSpPr/>
          <p:nvPr/>
        </p:nvSpPr>
        <p:spPr>
          <a:xfrm>
            <a:off x="960120" y="40965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1"/>
          <p:cNvSpPr/>
          <p:nvPr/>
        </p:nvSpPr>
        <p:spPr>
          <a:xfrm>
            <a:off x="1600200" y="4078224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233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0C2233"/>
                </a:solidFill>
                <a:latin typeface="Calibri"/>
                <a:ea typeface="Calibri"/>
                <a:cs typeface="Calibri"/>
                <a:sym typeface="Calibri"/>
              </a:rPr>
              <a:t>Building blocks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1"/>
          <p:cNvSpPr/>
          <p:nvPr/>
        </p:nvSpPr>
        <p:spPr>
          <a:xfrm>
            <a:off x="1600200" y="4553712"/>
            <a:ext cx="4023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A748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rPr>
              <a:t>Pooling, batch norm, residual connections, and how they interact.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1"/>
          <p:cNvSpPr/>
          <p:nvPr/>
        </p:nvSpPr>
        <p:spPr>
          <a:xfrm>
            <a:off x="6217920" y="3749040"/>
            <a:ext cx="5303520" cy="1874520"/>
          </a:xfrm>
          <a:prstGeom prst="roundRect">
            <a:avLst>
              <a:gd fmla="val 439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25400">
              <a:srgbClr val="0C22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1"/>
          <p:cNvSpPr/>
          <p:nvPr/>
        </p:nvSpPr>
        <p:spPr>
          <a:xfrm>
            <a:off x="6537960" y="4096512"/>
            <a:ext cx="502920" cy="502920"/>
          </a:xfrm>
          <a:prstGeom prst="ellipse">
            <a:avLst/>
          </a:prstGeom>
          <a:solidFill>
            <a:srgbClr val="146B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1"/>
          <p:cNvSpPr/>
          <p:nvPr/>
        </p:nvSpPr>
        <p:spPr>
          <a:xfrm>
            <a:off x="6537960" y="40965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1"/>
          <p:cNvSpPr/>
          <p:nvPr/>
        </p:nvSpPr>
        <p:spPr>
          <a:xfrm>
            <a:off x="7178040" y="4078224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233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0C2233"/>
                </a:solidFill>
                <a:latin typeface="Calibri"/>
                <a:ea typeface="Calibri"/>
                <a:cs typeface="Calibri"/>
                <a:sym typeface="Calibri"/>
              </a:rPr>
              <a:t>Architectures in practice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1"/>
          <p:cNvSpPr/>
          <p:nvPr/>
        </p:nvSpPr>
        <p:spPr>
          <a:xfrm>
            <a:off x="7178040" y="4553712"/>
            <a:ext cx="4023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A748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rPr>
              <a:t>LeNet → ResNet → ConvNeXt, and where transformers took over.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1"/>
          <p:cNvSpPr txBox="1"/>
          <p:nvPr>
            <p:ph idx="4294967295" type="sldNum"/>
          </p:nvPr>
        </p:nvSpPr>
        <p:spPr>
          <a:xfrm>
            <a:off x="11338560" y="62636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A748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 txBox="1"/>
          <p:nvPr>
            <p:ph idx="1" type="body"/>
          </p:nvPr>
        </p:nvSpPr>
        <p:spPr>
          <a:xfrm>
            <a:off x="640080" y="25146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19F22"/>
              </a:buClr>
              <a:buSzPts val="1500"/>
              <a:buNone/>
            </a:pPr>
            <a:r>
              <a:rPr b="1" lang="en-US" sz="1500">
                <a:solidFill>
                  <a:srgbClr val="F19F22"/>
                </a:solidFill>
                <a:latin typeface="Calibri"/>
                <a:ea typeface="Calibri"/>
                <a:cs typeface="Calibri"/>
                <a:sym typeface="Calibri"/>
              </a:rPr>
              <a:t>PART 01</a:t>
            </a:r>
            <a:endParaRPr sz="1500"/>
          </a:p>
        </p:txBody>
      </p:sp>
      <p:sp>
        <p:nvSpPr>
          <p:cNvPr id="118" name="Google Shape;118;p12"/>
          <p:cNvSpPr txBox="1"/>
          <p:nvPr>
            <p:ph type="title"/>
          </p:nvPr>
        </p:nvSpPr>
        <p:spPr>
          <a:xfrm>
            <a:off x="640080" y="3017520"/>
            <a:ext cx="76809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Why not just use a dense layer?</a:t>
            </a:r>
            <a:endParaRPr sz="4000"/>
          </a:p>
        </p:txBody>
      </p:sp>
      <p:sp>
        <p:nvSpPr>
          <p:cNvPr id="119" name="Google Shape;119;p12"/>
          <p:cNvSpPr/>
          <p:nvPr/>
        </p:nvSpPr>
        <p:spPr>
          <a:xfrm>
            <a:off x="9052560" y="2194560"/>
            <a:ext cx="24688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23B4F"/>
              </a:buClr>
              <a:buSzPts val="15000"/>
              <a:buFont typeface="Cambria"/>
              <a:buNone/>
            </a:pPr>
            <a:r>
              <a:rPr b="1" i="0" lang="en-US" sz="15000" u="none" cap="none" strike="noStrike">
                <a:solidFill>
                  <a:srgbClr val="123B4F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/>
          <p:nvPr>
            <p:ph type="title"/>
          </p:nvPr>
        </p:nvSpPr>
        <p:spPr>
          <a:xfrm>
            <a:off x="640080" y="502920"/>
            <a:ext cx="10241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C2233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0C2233"/>
                </a:solidFill>
                <a:latin typeface="Cambria"/>
                <a:ea typeface="Cambria"/>
                <a:cs typeface="Cambria"/>
                <a:sym typeface="Cambria"/>
              </a:rPr>
              <a:t>The parameter problem</a:t>
            </a:r>
            <a:endParaRPr sz="3200"/>
          </a:p>
        </p:txBody>
      </p:sp>
      <p:sp>
        <p:nvSpPr>
          <p:cNvPr id="126" name="Google Shape;126;p13"/>
          <p:cNvSpPr txBox="1"/>
          <p:nvPr>
            <p:ph idx="1" type="body"/>
          </p:nvPr>
        </p:nvSpPr>
        <p:spPr>
          <a:xfrm>
            <a:off x="640080" y="1508760"/>
            <a:ext cx="1088136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3404F"/>
              </a:buClr>
              <a:buSzPts val="1600"/>
              <a:buChar char="•"/>
            </a:pPr>
            <a:r>
              <a:rPr lang="en-US" sz="1600">
                <a:solidFill>
                  <a:srgbClr val="23404F"/>
                </a:solidFill>
                <a:latin typeface="Calibri"/>
                <a:ea typeface="Calibri"/>
                <a:cs typeface="Calibri"/>
                <a:sym typeface="Calibri"/>
              </a:rPr>
              <a:t>A dense layer over a 224×224×3 image with 1000 hidden units needs 150M weights.</a:t>
            </a:r>
            <a:endParaRPr sz="1600"/>
          </a:p>
          <a:p>
            <a:pPr indent="-342900" lvl="0" marL="342900" rtl="0" algn="l">
              <a:spcBef>
                <a:spcPts val="1320"/>
              </a:spcBef>
              <a:spcAft>
                <a:spcPts val="0"/>
              </a:spcAft>
              <a:buClr>
                <a:srgbClr val="23404F"/>
              </a:buClr>
              <a:buSzPts val="1600"/>
              <a:buChar char="•"/>
            </a:pPr>
            <a:r>
              <a:rPr lang="en-US" sz="1600">
                <a:solidFill>
                  <a:srgbClr val="23404F"/>
                </a:solidFill>
                <a:latin typeface="Calibri"/>
                <a:ea typeface="Calibri"/>
                <a:cs typeface="Calibri"/>
                <a:sym typeface="Calibri"/>
              </a:rPr>
              <a:t>Every pixel position learns its own weight — nothing is shared across space.</a:t>
            </a:r>
            <a:endParaRPr sz="1600"/>
          </a:p>
          <a:p>
            <a:pPr indent="-342900" lvl="0" marL="342900" rtl="0" algn="l">
              <a:spcBef>
                <a:spcPts val="1320"/>
              </a:spcBef>
              <a:spcAft>
                <a:spcPts val="0"/>
              </a:spcAft>
              <a:buClr>
                <a:srgbClr val="23404F"/>
              </a:buClr>
              <a:buSzPts val="1600"/>
              <a:buChar char="•"/>
            </a:pPr>
            <a:r>
              <a:rPr lang="en-US" sz="1600">
                <a:solidFill>
                  <a:srgbClr val="23404F"/>
                </a:solidFill>
                <a:latin typeface="Calibri"/>
                <a:ea typeface="Calibri"/>
                <a:cs typeface="Calibri"/>
                <a:sym typeface="Calibri"/>
              </a:rPr>
              <a:t>Shift the object by two pixels and the network sees an entirely different input.</a:t>
            </a:r>
            <a:endParaRPr sz="1600"/>
          </a:p>
          <a:p>
            <a:pPr indent="-342900" lvl="0" marL="342900" rtl="0" algn="l">
              <a:spcBef>
                <a:spcPts val="1320"/>
              </a:spcBef>
              <a:spcAft>
                <a:spcPts val="0"/>
              </a:spcAft>
              <a:buClr>
                <a:srgbClr val="23404F"/>
              </a:buClr>
              <a:buSzPts val="1600"/>
              <a:buChar char="•"/>
            </a:pPr>
            <a:r>
              <a:rPr lang="en-US" sz="1600">
                <a:solidFill>
                  <a:srgbClr val="23404F"/>
                </a:solidFill>
                <a:latin typeface="Calibri"/>
                <a:ea typeface="Calibri"/>
                <a:cs typeface="Calibri"/>
                <a:sym typeface="Calibri"/>
              </a:rPr>
              <a:t>Convolution fixes both at once: weight sharing plus translation equivariance.</a:t>
            </a:r>
            <a:endParaRPr sz="1600"/>
          </a:p>
        </p:txBody>
      </p:sp>
      <p:sp>
        <p:nvSpPr>
          <p:cNvPr id="127" name="Google Shape;127;p13"/>
          <p:cNvSpPr/>
          <p:nvPr/>
        </p:nvSpPr>
        <p:spPr>
          <a:xfrm>
            <a:off x="7818120" y="1600200"/>
            <a:ext cx="3703320" cy="3291840"/>
          </a:xfrm>
          <a:prstGeom prst="roundRect">
            <a:avLst>
              <a:gd fmla="val 2500" name="adj"/>
            </a:avLst>
          </a:prstGeom>
          <a:solidFill>
            <a:srgbClr val="0C2233"/>
          </a:solidFill>
          <a:ln cap="flat" cmpd="sng" w="12700">
            <a:solidFill>
              <a:srgbClr val="0C2233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25400">
              <a:srgbClr val="0C22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3"/>
          <p:cNvSpPr/>
          <p:nvPr/>
        </p:nvSpPr>
        <p:spPr>
          <a:xfrm>
            <a:off x="8092440" y="2057400"/>
            <a:ext cx="3154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9F22"/>
              </a:buClr>
              <a:buSzPts val="6000"/>
              <a:buFont typeface="Cambria"/>
              <a:buNone/>
            </a:pPr>
            <a:r>
              <a:rPr b="1" i="0" lang="en-US" sz="6000" u="none" cap="none" strike="noStrike">
                <a:solidFill>
                  <a:srgbClr val="F19F22"/>
                </a:solidFill>
                <a:latin typeface="Cambria"/>
                <a:ea typeface="Cambria"/>
                <a:cs typeface="Cambria"/>
                <a:sym typeface="Cambria"/>
              </a:rPr>
              <a:t>150M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3"/>
          <p:cNvSpPr/>
          <p:nvPr/>
        </p:nvSpPr>
        <p:spPr>
          <a:xfrm>
            <a:off x="8092440" y="2971800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5E1D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5E1D9"/>
                </a:solidFill>
                <a:latin typeface="Calibri"/>
                <a:ea typeface="Calibri"/>
                <a:cs typeface="Calibri"/>
                <a:sym typeface="Calibri"/>
              </a:rPr>
              <a:t>parameters in one dense layer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13"/>
          <p:cNvCxnSpPr/>
          <p:nvPr/>
        </p:nvCxnSpPr>
        <p:spPr>
          <a:xfrm>
            <a:off x="8732520" y="3520440"/>
            <a:ext cx="1874520" cy="0"/>
          </a:xfrm>
          <a:prstGeom prst="straightConnector1">
            <a:avLst/>
          </a:prstGeom>
          <a:noFill/>
          <a:ln cap="flat" cmpd="sng" w="25400">
            <a:solidFill>
              <a:srgbClr val="6EC7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13"/>
          <p:cNvSpPr/>
          <p:nvPr/>
        </p:nvSpPr>
        <p:spPr>
          <a:xfrm>
            <a:off x="8092440" y="3703320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2.4K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3"/>
          <p:cNvSpPr/>
          <p:nvPr/>
        </p:nvSpPr>
        <p:spPr>
          <a:xfrm>
            <a:off x="8092440" y="4251960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C7B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EC7BF"/>
                </a:solidFill>
                <a:latin typeface="Calibri"/>
                <a:ea typeface="Calibri"/>
                <a:cs typeface="Calibri"/>
                <a:sym typeface="Calibri"/>
              </a:rPr>
              <a:t>in a 3×3 conv with 32 filters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3"/>
          <p:cNvSpPr txBox="1"/>
          <p:nvPr>
            <p:ph idx="4294967295" type="sldNum"/>
          </p:nvPr>
        </p:nvSpPr>
        <p:spPr>
          <a:xfrm>
            <a:off x="11338560" y="62636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A748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"/>
          <p:cNvSpPr txBox="1"/>
          <p:nvPr>
            <p:ph type="title"/>
          </p:nvPr>
        </p:nvSpPr>
        <p:spPr>
          <a:xfrm>
            <a:off x="640080" y="502920"/>
            <a:ext cx="10241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C2233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0C2233"/>
                </a:solidFill>
                <a:latin typeface="Cambria"/>
                <a:ea typeface="Cambria"/>
                <a:cs typeface="Cambria"/>
                <a:sym typeface="Cambria"/>
              </a:rPr>
              <a:t>Convolution, formally</a:t>
            </a:r>
            <a:endParaRPr sz="3200"/>
          </a:p>
        </p:txBody>
      </p:sp>
      <p:sp>
        <p:nvSpPr>
          <p:cNvPr id="140" name="Google Shape;140;p14"/>
          <p:cNvSpPr txBox="1"/>
          <p:nvPr>
            <p:ph idx="1" type="body"/>
          </p:nvPr>
        </p:nvSpPr>
        <p:spPr>
          <a:xfrm>
            <a:off x="640080" y="1508760"/>
            <a:ext cx="521208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3404F"/>
              </a:buClr>
              <a:buSzPts val="1600"/>
              <a:buNone/>
            </a:pPr>
            <a:r>
              <a:rPr lang="en-US" sz="1600">
                <a:solidFill>
                  <a:srgbClr val="23404F"/>
                </a:solidFill>
                <a:latin typeface="Calibri"/>
                <a:ea typeface="Calibri"/>
                <a:cs typeface="Calibri"/>
                <a:sym typeface="Calibri"/>
              </a:rPr>
              <a:t>The kernel slides over the input and computes a dot product at each position.</a:t>
            </a:r>
            <a:endParaRPr sz="1600"/>
          </a:p>
          <a:p>
            <a:pPr indent="0" lvl="0" marL="0" rtl="0" algn="l">
              <a:spcBef>
                <a:spcPts val="1520"/>
              </a:spcBef>
              <a:spcAft>
                <a:spcPts val="0"/>
              </a:spcAft>
              <a:buClr>
                <a:srgbClr val="23404F"/>
              </a:buClr>
              <a:buSzPts val="1600"/>
              <a:buNone/>
            </a:pPr>
            <a:r>
              <a:rPr b="1" lang="en-US" sz="1600">
                <a:solidFill>
                  <a:srgbClr val="23404F"/>
                </a:solidFill>
                <a:latin typeface="Calibri"/>
                <a:ea typeface="Calibri"/>
                <a:cs typeface="Calibri"/>
                <a:sym typeface="Calibri"/>
              </a:rPr>
              <a:t>Output size</a:t>
            </a:r>
            <a:endParaRPr sz="1600"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Clr>
                <a:srgbClr val="146B93"/>
              </a:buClr>
              <a:buSzPts val="1500"/>
              <a:buNone/>
            </a:pPr>
            <a:r>
              <a:rPr lang="en-US" sz="1500">
                <a:solidFill>
                  <a:srgbClr val="146B93"/>
                </a:solidFill>
                <a:latin typeface="Courier New"/>
                <a:ea typeface="Courier New"/>
                <a:cs typeface="Courier New"/>
                <a:sym typeface="Courier New"/>
              </a:rPr>
              <a:t>o = ⌊(i + 2p − k) / s⌋ + 1</a:t>
            </a:r>
            <a:endParaRPr sz="1600"/>
          </a:p>
          <a:p>
            <a:pPr indent="0" lvl="0" marL="0" rtl="0" algn="l">
              <a:spcBef>
                <a:spcPts val="1520"/>
              </a:spcBef>
              <a:spcAft>
                <a:spcPts val="0"/>
              </a:spcAft>
              <a:buClr>
                <a:srgbClr val="23404F"/>
              </a:buClr>
              <a:buSzPts val="1600"/>
              <a:buNone/>
            </a:pPr>
            <a:r>
              <a:rPr lang="en-US" sz="1600">
                <a:solidFill>
                  <a:srgbClr val="23404F"/>
                </a:solidFill>
                <a:latin typeface="Calibri"/>
                <a:ea typeface="Calibri"/>
                <a:cs typeface="Calibri"/>
                <a:sym typeface="Calibri"/>
              </a:rPr>
              <a:t>Receptive field grows linearly with depth for stride 1, and multiplicatively once you downsample.</a:t>
            </a:r>
            <a:endParaRPr sz="1600"/>
          </a:p>
        </p:txBody>
      </p:sp>
      <p:sp>
        <p:nvSpPr>
          <p:cNvPr id="141" name="Google Shape;141;p14"/>
          <p:cNvSpPr/>
          <p:nvPr/>
        </p:nvSpPr>
        <p:spPr>
          <a:xfrm>
            <a:off x="6309360" y="1508760"/>
            <a:ext cx="5212080" cy="3886200"/>
          </a:xfrm>
          <a:prstGeom prst="roundRect">
            <a:avLst>
              <a:gd fmla="val 2118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25400">
              <a:srgbClr val="0C22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4"/>
          <p:cNvSpPr/>
          <p:nvPr/>
        </p:nvSpPr>
        <p:spPr>
          <a:xfrm>
            <a:off x="6903720" y="1920240"/>
            <a:ext cx="356616" cy="356616"/>
          </a:xfrm>
          <a:prstGeom prst="rect">
            <a:avLst/>
          </a:prstGeom>
          <a:solidFill>
            <a:srgbClr val="146B93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4"/>
          <p:cNvSpPr/>
          <p:nvPr/>
        </p:nvSpPr>
        <p:spPr>
          <a:xfrm>
            <a:off x="7306056" y="1920240"/>
            <a:ext cx="356616" cy="356616"/>
          </a:xfrm>
          <a:prstGeom prst="rect">
            <a:avLst/>
          </a:prstGeom>
          <a:solidFill>
            <a:srgbClr val="146B93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4"/>
          <p:cNvSpPr/>
          <p:nvPr/>
        </p:nvSpPr>
        <p:spPr>
          <a:xfrm>
            <a:off x="7708392" y="1920240"/>
            <a:ext cx="356616" cy="356616"/>
          </a:xfrm>
          <a:prstGeom prst="rect">
            <a:avLst/>
          </a:prstGeom>
          <a:solidFill>
            <a:srgbClr val="146B93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4"/>
          <p:cNvSpPr/>
          <p:nvPr/>
        </p:nvSpPr>
        <p:spPr>
          <a:xfrm>
            <a:off x="8110728" y="1920240"/>
            <a:ext cx="356616" cy="356616"/>
          </a:xfrm>
          <a:prstGeom prst="rect">
            <a:avLst/>
          </a:prstGeom>
          <a:solidFill>
            <a:srgbClr val="E3EEF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4"/>
          <p:cNvSpPr/>
          <p:nvPr/>
        </p:nvSpPr>
        <p:spPr>
          <a:xfrm>
            <a:off x="8513064" y="1920240"/>
            <a:ext cx="356616" cy="356616"/>
          </a:xfrm>
          <a:prstGeom prst="rect">
            <a:avLst/>
          </a:prstGeom>
          <a:solidFill>
            <a:srgbClr val="E3EEF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4"/>
          <p:cNvSpPr/>
          <p:nvPr/>
        </p:nvSpPr>
        <p:spPr>
          <a:xfrm>
            <a:off x="6903720" y="2322576"/>
            <a:ext cx="356616" cy="356616"/>
          </a:xfrm>
          <a:prstGeom prst="rect">
            <a:avLst/>
          </a:prstGeom>
          <a:solidFill>
            <a:srgbClr val="146B93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4"/>
          <p:cNvSpPr/>
          <p:nvPr/>
        </p:nvSpPr>
        <p:spPr>
          <a:xfrm>
            <a:off x="7306056" y="2322576"/>
            <a:ext cx="356616" cy="356616"/>
          </a:xfrm>
          <a:prstGeom prst="rect">
            <a:avLst/>
          </a:prstGeom>
          <a:solidFill>
            <a:srgbClr val="146B93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4"/>
          <p:cNvSpPr/>
          <p:nvPr/>
        </p:nvSpPr>
        <p:spPr>
          <a:xfrm>
            <a:off x="7708392" y="2322576"/>
            <a:ext cx="356616" cy="356616"/>
          </a:xfrm>
          <a:prstGeom prst="rect">
            <a:avLst/>
          </a:prstGeom>
          <a:solidFill>
            <a:srgbClr val="146B93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4"/>
          <p:cNvSpPr/>
          <p:nvPr/>
        </p:nvSpPr>
        <p:spPr>
          <a:xfrm>
            <a:off x="8110728" y="2322576"/>
            <a:ext cx="356616" cy="356616"/>
          </a:xfrm>
          <a:prstGeom prst="rect">
            <a:avLst/>
          </a:prstGeom>
          <a:solidFill>
            <a:srgbClr val="E3EEF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4"/>
          <p:cNvSpPr/>
          <p:nvPr/>
        </p:nvSpPr>
        <p:spPr>
          <a:xfrm>
            <a:off x="8513064" y="2322576"/>
            <a:ext cx="356616" cy="356616"/>
          </a:xfrm>
          <a:prstGeom prst="rect">
            <a:avLst/>
          </a:prstGeom>
          <a:solidFill>
            <a:srgbClr val="E3EEF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4"/>
          <p:cNvSpPr/>
          <p:nvPr/>
        </p:nvSpPr>
        <p:spPr>
          <a:xfrm>
            <a:off x="6903720" y="2724912"/>
            <a:ext cx="356616" cy="356616"/>
          </a:xfrm>
          <a:prstGeom prst="rect">
            <a:avLst/>
          </a:prstGeom>
          <a:solidFill>
            <a:srgbClr val="146B93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4"/>
          <p:cNvSpPr/>
          <p:nvPr/>
        </p:nvSpPr>
        <p:spPr>
          <a:xfrm>
            <a:off x="7306056" y="2724912"/>
            <a:ext cx="356616" cy="356616"/>
          </a:xfrm>
          <a:prstGeom prst="rect">
            <a:avLst/>
          </a:prstGeom>
          <a:solidFill>
            <a:srgbClr val="146B93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4"/>
          <p:cNvSpPr/>
          <p:nvPr/>
        </p:nvSpPr>
        <p:spPr>
          <a:xfrm>
            <a:off x="7708392" y="2724912"/>
            <a:ext cx="356616" cy="356616"/>
          </a:xfrm>
          <a:prstGeom prst="rect">
            <a:avLst/>
          </a:prstGeom>
          <a:solidFill>
            <a:srgbClr val="146B93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4"/>
          <p:cNvSpPr/>
          <p:nvPr/>
        </p:nvSpPr>
        <p:spPr>
          <a:xfrm>
            <a:off x="8110728" y="2724912"/>
            <a:ext cx="356616" cy="356616"/>
          </a:xfrm>
          <a:prstGeom prst="rect">
            <a:avLst/>
          </a:prstGeom>
          <a:solidFill>
            <a:srgbClr val="E3EEF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4"/>
          <p:cNvSpPr/>
          <p:nvPr/>
        </p:nvSpPr>
        <p:spPr>
          <a:xfrm>
            <a:off x="8513064" y="2724912"/>
            <a:ext cx="356616" cy="356616"/>
          </a:xfrm>
          <a:prstGeom prst="rect">
            <a:avLst/>
          </a:prstGeom>
          <a:solidFill>
            <a:srgbClr val="E3EEF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4"/>
          <p:cNvSpPr/>
          <p:nvPr/>
        </p:nvSpPr>
        <p:spPr>
          <a:xfrm>
            <a:off x="6903720" y="3127248"/>
            <a:ext cx="356616" cy="356616"/>
          </a:xfrm>
          <a:prstGeom prst="rect">
            <a:avLst/>
          </a:prstGeom>
          <a:solidFill>
            <a:srgbClr val="E3EEF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4"/>
          <p:cNvSpPr/>
          <p:nvPr/>
        </p:nvSpPr>
        <p:spPr>
          <a:xfrm>
            <a:off x="7306056" y="3127248"/>
            <a:ext cx="356616" cy="356616"/>
          </a:xfrm>
          <a:prstGeom prst="rect">
            <a:avLst/>
          </a:prstGeom>
          <a:solidFill>
            <a:srgbClr val="E3EEF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4"/>
          <p:cNvSpPr/>
          <p:nvPr/>
        </p:nvSpPr>
        <p:spPr>
          <a:xfrm>
            <a:off x="7708392" y="3127248"/>
            <a:ext cx="356616" cy="356616"/>
          </a:xfrm>
          <a:prstGeom prst="rect">
            <a:avLst/>
          </a:prstGeom>
          <a:solidFill>
            <a:srgbClr val="E3EEF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4"/>
          <p:cNvSpPr/>
          <p:nvPr/>
        </p:nvSpPr>
        <p:spPr>
          <a:xfrm>
            <a:off x="8110728" y="3127248"/>
            <a:ext cx="356616" cy="356616"/>
          </a:xfrm>
          <a:prstGeom prst="rect">
            <a:avLst/>
          </a:prstGeom>
          <a:solidFill>
            <a:srgbClr val="E3EEF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4"/>
          <p:cNvSpPr/>
          <p:nvPr/>
        </p:nvSpPr>
        <p:spPr>
          <a:xfrm>
            <a:off x="8513064" y="3127248"/>
            <a:ext cx="356616" cy="356616"/>
          </a:xfrm>
          <a:prstGeom prst="rect">
            <a:avLst/>
          </a:prstGeom>
          <a:solidFill>
            <a:srgbClr val="E3EEF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4"/>
          <p:cNvSpPr/>
          <p:nvPr/>
        </p:nvSpPr>
        <p:spPr>
          <a:xfrm>
            <a:off x="6903720" y="3529584"/>
            <a:ext cx="356616" cy="356616"/>
          </a:xfrm>
          <a:prstGeom prst="rect">
            <a:avLst/>
          </a:prstGeom>
          <a:solidFill>
            <a:srgbClr val="E3EEF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4"/>
          <p:cNvSpPr/>
          <p:nvPr/>
        </p:nvSpPr>
        <p:spPr>
          <a:xfrm>
            <a:off x="7306056" y="3529584"/>
            <a:ext cx="356616" cy="356616"/>
          </a:xfrm>
          <a:prstGeom prst="rect">
            <a:avLst/>
          </a:prstGeom>
          <a:solidFill>
            <a:srgbClr val="E3EEF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4"/>
          <p:cNvSpPr/>
          <p:nvPr/>
        </p:nvSpPr>
        <p:spPr>
          <a:xfrm>
            <a:off x="7708392" y="3529584"/>
            <a:ext cx="356616" cy="356616"/>
          </a:xfrm>
          <a:prstGeom prst="rect">
            <a:avLst/>
          </a:prstGeom>
          <a:solidFill>
            <a:srgbClr val="E3EEF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4"/>
          <p:cNvSpPr/>
          <p:nvPr/>
        </p:nvSpPr>
        <p:spPr>
          <a:xfrm>
            <a:off x="8110728" y="3529584"/>
            <a:ext cx="356616" cy="356616"/>
          </a:xfrm>
          <a:prstGeom prst="rect">
            <a:avLst/>
          </a:prstGeom>
          <a:solidFill>
            <a:srgbClr val="E3EEF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4"/>
          <p:cNvSpPr/>
          <p:nvPr/>
        </p:nvSpPr>
        <p:spPr>
          <a:xfrm>
            <a:off x="8513064" y="3529584"/>
            <a:ext cx="356616" cy="356616"/>
          </a:xfrm>
          <a:prstGeom prst="rect">
            <a:avLst/>
          </a:prstGeom>
          <a:solidFill>
            <a:srgbClr val="E3EEF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4"/>
          <p:cNvSpPr/>
          <p:nvPr/>
        </p:nvSpPr>
        <p:spPr>
          <a:xfrm>
            <a:off x="9144000" y="2743200"/>
            <a:ext cx="548640" cy="3200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A74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4"/>
          <p:cNvSpPr/>
          <p:nvPr/>
        </p:nvSpPr>
        <p:spPr>
          <a:xfrm>
            <a:off x="9921240" y="2697480"/>
            <a:ext cx="356616" cy="356616"/>
          </a:xfrm>
          <a:prstGeom prst="rect">
            <a:avLst/>
          </a:prstGeom>
          <a:solidFill>
            <a:srgbClr val="F19F2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4"/>
          <p:cNvSpPr txBox="1"/>
          <p:nvPr>
            <p:ph idx="2" type="body"/>
          </p:nvPr>
        </p:nvSpPr>
        <p:spPr>
          <a:xfrm>
            <a:off x="6309360" y="1508760"/>
            <a:ext cx="521208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3404F"/>
              </a:buClr>
              <a:buSzPts val="1600"/>
              <a:buNone/>
            </a:pPr>
            <a:r>
              <a:rPr i="1" lang="en-US" sz="1600">
                <a:solidFill>
                  <a:srgbClr val="23404F"/>
                </a:solidFill>
                <a:latin typeface="Calibri"/>
                <a:ea typeface="Calibri"/>
                <a:cs typeface="Calibri"/>
                <a:sym typeface="Calibri"/>
              </a:rPr>
              <a:t>Figure — a 3×3 kernel over a 5×5 input, stride 1, no padding. Replace with your own figure.</a:t>
            </a:r>
            <a:endParaRPr sz="1600"/>
          </a:p>
        </p:txBody>
      </p:sp>
      <p:sp>
        <p:nvSpPr>
          <p:cNvPr id="170" name="Google Shape;170;p14"/>
          <p:cNvSpPr txBox="1"/>
          <p:nvPr>
            <p:ph idx="4294967295" type="sldNum"/>
          </p:nvPr>
        </p:nvSpPr>
        <p:spPr>
          <a:xfrm>
            <a:off x="11338560" y="62636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A748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5"/>
          <p:cNvSpPr txBox="1"/>
          <p:nvPr>
            <p:ph type="title"/>
          </p:nvPr>
        </p:nvSpPr>
        <p:spPr>
          <a:xfrm>
            <a:off x="640080" y="502920"/>
            <a:ext cx="10241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C2233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0C2233"/>
                </a:solidFill>
                <a:latin typeface="Cambria"/>
                <a:ea typeface="Cambria"/>
                <a:cs typeface="Cambria"/>
                <a:sym typeface="Cambria"/>
              </a:rPr>
              <a:t>Discrete 2-D convolution</a:t>
            </a:r>
            <a:endParaRPr sz="3200"/>
          </a:p>
        </p:txBody>
      </p:sp>
      <p:sp>
        <p:nvSpPr>
          <p:cNvPr id="177" name="Google Shape;177;p15"/>
          <p:cNvSpPr/>
          <p:nvPr/>
        </p:nvSpPr>
        <p:spPr>
          <a:xfrm>
            <a:off x="640080" y="1600200"/>
            <a:ext cx="10881360" cy="1417320"/>
          </a:xfrm>
          <a:prstGeom prst="roundRect">
            <a:avLst>
              <a:gd fmla="val 5806" name="adj"/>
            </a:avLst>
          </a:prstGeom>
          <a:solidFill>
            <a:srgbClr val="0C2233"/>
          </a:solidFill>
          <a:ln cap="flat" cmpd="sng" w="12700">
            <a:solidFill>
              <a:srgbClr val="0C2233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25400">
              <a:srgbClr val="0C22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5"/>
          <p:cNvSpPr/>
          <p:nvPr/>
        </p:nvSpPr>
        <p:spPr>
          <a:xfrm>
            <a:off x="640080" y="1600200"/>
            <a:ext cx="1088136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(I ∗ K)(x, y)  =  Σ_m Σ_n  I(x − m, y − n) · K(m, n)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5"/>
          <p:cNvSpPr/>
          <p:nvPr/>
        </p:nvSpPr>
        <p:spPr>
          <a:xfrm>
            <a:off x="640080" y="3337560"/>
            <a:ext cx="10881360" cy="731520"/>
          </a:xfrm>
          <a:prstGeom prst="roundRect">
            <a:avLst>
              <a:gd fmla="val 1125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25400">
              <a:srgbClr val="0C22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5"/>
          <p:cNvSpPr/>
          <p:nvPr/>
        </p:nvSpPr>
        <p:spPr>
          <a:xfrm>
            <a:off x="914400" y="3337560"/>
            <a:ext cx="914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6B93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46B93"/>
                </a:solidFill>
                <a:latin typeface="Cambria"/>
                <a:ea typeface="Cambria"/>
                <a:cs typeface="Cambria"/>
                <a:sym typeface="Cambria"/>
              </a:rPr>
              <a:t>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/>
          <p:cNvSpPr/>
          <p:nvPr/>
        </p:nvSpPr>
        <p:spPr>
          <a:xfrm>
            <a:off x="1874520" y="3337560"/>
            <a:ext cx="9326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404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3404F"/>
                </a:solidFill>
                <a:latin typeface="Calibri"/>
                <a:ea typeface="Calibri"/>
                <a:cs typeface="Calibri"/>
                <a:sym typeface="Calibri"/>
              </a:rPr>
              <a:t>Input feature map, shape H × W × C_in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5"/>
          <p:cNvSpPr/>
          <p:nvPr/>
        </p:nvSpPr>
        <p:spPr>
          <a:xfrm>
            <a:off x="640080" y="4233672"/>
            <a:ext cx="10881360" cy="731520"/>
          </a:xfrm>
          <a:prstGeom prst="roundRect">
            <a:avLst>
              <a:gd fmla="val 1125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25400">
              <a:srgbClr val="0C22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5"/>
          <p:cNvSpPr/>
          <p:nvPr/>
        </p:nvSpPr>
        <p:spPr>
          <a:xfrm>
            <a:off x="914400" y="4233672"/>
            <a:ext cx="914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6B93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46B93"/>
                </a:solidFill>
                <a:latin typeface="Cambria"/>
                <a:ea typeface="Cambria"/>
                <a:cs typeface="Cambria"/>
                <a:sym typeface="Cambria"/>
              </a:rPr>
              <a:t>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1874520" y="4233672"/>
            <a:ext cx="9326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404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3404F"/>
                </a:solidFill>
                <a:latin typeface="Calibri"/>
                <a:ea typeface="Calibri"/>
                <a:cs typeface="Calibri"/>
                <a:sym typeface="Calibri"/>
              </a:rPr>
              <a:t>Learned kernel, shape k × k × C_in × C_out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640080" y="5129784"/>
            <a:ext cx="10881360" cy="731520"/>
          </a:xfrm>
          <a:prstGeom prst="roundRect">
            <a:avLst>
              <a:gd fmla="val 1125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25400">
              <a:srgbClr val="0C22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5"/>
          <p:cNvSpPr/>
          <p:nvPr/>
        </p:nvSpPr>
        <p:spPr>
          <a:xfrm>
            <a:off x="914400" y="5129784"/>
            <a:ext cx="914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6B93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46B93"/>
                </a:solidFill>
                <a:latin typeface="Cambria"/>
                <a:ea typeface="Cambria"/>
                <a:cs typeface="Cambria"/>
                <a:sym typeface="Cambria"/>
              </a:rPr>
              <a:t>∗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5"/>
          <p:cNvSpPr/>
          <p:nvPr/>
        </p:nvSpPr>
        <p:spPr>
          <a:xfrm>
            <a:off x="1874520" y="5129784"/>
            <a:ext cx="9326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404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3404F"/>
                </a:solidFill>
                <a:latin typeface="Calibri"/>
                <a:ea typeface="Calibri"/>
                <a:cs typeface="Calibri"/>
                <a:sym typeface="Calibri"/>
              </a:rPr>
              <a:t>Cross-correlation in every ML framework, despite the name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5"/>
          <p:cNvSpPr txBox="1"/>
          <p:nvPr>
            <p:ph idx="4294967295" type="sldNum"/>
          </p:nvPr>
        </p:nvSpPr>
        <p:spPr>
          <a:xfrm>
            <a:off x="11338560" y="62636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A748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/>
          <p:cNvSpPr txBox="1"/>
          <p:nvPr>
            <p:ph type="title"/>
          </p:nvPr>
        </p:nvSpPr>
        <p:spPr>
          <a:xfrm>
            <a:off x="640080" y="502920"/>
            <a:ext cx="10241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C2233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0C2233"/>
                </a:solidFill>
                <a:latin typeface="Cambria"/>
                <a:ea typeface="Cambria"/>
                <a:cs typeface="Cambria"/>
                <a:sym typeface="Cambria"/>
              </a:rPr>
              <a:t>In code</a:t>
            </a:r>
            <a:endParaRPr sz="3200"/>
          </a:p>
        </p:txBody>
      </p:sp>
      <p:sp>
        <p:nvSpPr>
          <p:cNvPr id="195" name="Google Shape;195;p16"/>
          <p:cNvSpPr/>
          <p:nvPr/>
        </p:nvSpPr>
        <p:spPr>
          <a:xfrm>
            <a:off x="640080" y="1554480"/>
            <a:ext cx="7178040" cy="4023360"/>
          </a:xfrm>
          <a:prstGeom prst="roundRect">
            <a:avLst>
              <a:gd fmla="val 2045" name="adj"/>
            </a:avLst>
          </a:prstGeom>
          <a:solidFill>
            <a:srgbClr val="0C2233"/>
          </a:solidFill>
          <a:ln cap="flat" cmpd="sng" w="12700">
            <a:solidFill>
              <a:srgbClr val="0C2233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25400">
              <a:srgbClr val="0C22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6"/>
          <p:cNvSpPr/>
          <p:nvPr/>
        </p:nvSpPr>
        <p:spPr>
          <a:xfrm>
            <a:off x="914400" y="1783080"/>
            <a:ext cx="6629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EC7BF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6EC7BF"/>
                </a:solidFill>
                <a:latin typeface="Courier New"/>
                <a:ea typeface="Courier New"/>
                <a:cs typeface="Courier New"/>
                <a:sym typeface="Courier New"/>
              </a:rPr>
              <a:t>import torch.nn as nn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EF3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7EEF3"/>
                </a:solidFill>
                <a:latin typeface="Courier New"/>
                <a:ea typeface="Courier New"/>
                <a:cs typeface="Courier New"/>
                <a:sym typeface="Courier New"/>
              </a:rPr>
              <a:t>block = nn.Sequential(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EF3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7EEF3"/>
                </a:solidFill>
                <a:latin typeface="Courier New"/>
                <a:ea typeface="Courier New"/>
                <a:cs typeface="Courier New"/>
                <a:sym typeface="Courier New"/>
              </a:rPr>
              <a:t>    nn.Conv2d(3, 32, kernel_size=3, padding=1),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EF3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7EEF3"/>
                </a:solidFill>
                <a:latin typeface="Courier New"/>
                <a:ea typeface="Courier New"/>
                <a:cs typeface="Courier New"/>
                <a:sym typeface="Courier New"/>
              </a:rPr>
              <a:t>    nn.BatchNorm2d(32),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EF3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7EEF3"/>
                </a:solidFill>
                <a:latin typeface="Courier New"/>
                <a:ea typeface="Courier New"/>
                <a:cs typeface="Courier New"/>
                <a:sym typeface="Courier New"/>
              </a:rPr>
              <a:t>    nn.ReLU(inplace=True),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EF3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7EEF3"/>
                </a:solidFill>
                <a:latin typeface="Courier New"/>
                <a:ea typeface="Courier New"/>
                <a:cs typeface="Courier New"/>
                <a:sym typeface="Courier New"/>
              </a:rPr>
              <a:t>    nn.MaxPool2d(2),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EF3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7EE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BEB7A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BEB7A"/>
                </a:solidFill>
                <a:latin typeface="Courier New"/>
                <a:ea typeface="Courier New"/>
                <a:cs typeface="Courier New"/>
                <a:sym typeface="Courier New"/>
              </a:rPr>
              <a:t># 224x224x3  -&gt;  112x112x32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6"/>
          <p:cNvSpPr/>
          <p:nvPr/>
        </p:nvSpPr>
        <p:spPr>
          <a:xfrm>
            <a:off x="8138160" y="1554480"/>
            <a:ext cx="3383280" cy="4023360"/>
          </a:xfrm>
          <a:prstGeom prst="roundRect">
            <a:avLst>
              <a:gd fmla="val 243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25400">
              <a:srgbClr val="0C22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6"/>
          <p:cNvSpPr/>
          <p:nvPr/>
        </p:nvSpPr>
        <p:spPr>
          <a:xfrm>
            <a:off x="8412480" y="178308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6B9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46B93"/>
                </a:solidFill>
                <a:latin typeface="Calibri"/>
                <a:ea typeface="Calibri"/>
                <a:cs typeface="Calibri"/>
                <a:sym typeface="Calibri"/>
              </a:rPr>
              <a:t>Read it 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6"/>
          <p:cNvSpPr/>
          <p:nvPr/>
        </p:nvSpPr>
        <p:spPr>
          <a:xfrm>
            <a:off x="8412480" y="2286000"/>
            <a:ext cx="283464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404F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3404F"/>
                </a:solidFill>
                <a:latin typeface="Calibri"/>
                <a:ea typeface="Calibri"/>
                <a:cs typeface="Calibri"/>
                <a:sym typeface="Calibri"/>
              </a:rPr>
              <a:t>3 input channels, 32 kernels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3404F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3404F"/>
                </a:solidFill>
                <a:latin typeface="Calibri"/>
                <a:ea typeface="Calibri"/>
                <a:cs typeface="Calibri"/>
                <a:sym typeface="Calibri"/>
              </a:rPr>
              <a:t>padding=1 keeps H and 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3404F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3404F"/>
                </a:solidFill>
                <a:latin typeface="Calibri"/>
                <a:ea typeface="Calibri"/>
                <a:cs typeface="Calibri"/>
                <a:sym typeface="Calibri"/>
              </a:rPr>
              <a:t>BatchNorm before the non-linearity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3404F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3404F"/>
                </a:solidFill>
                <a:latin typeface="Calibri"/>
                <a:ea typeface="Calibri"/>
                <a:cs typeface="Calibri"/>
                <a:sym typeface="Calibri"/>
              </a:rPr>
              <a:t>pooling halves resolution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6"/>
          <p:cNvSpPr txBox="1"/>
          <p:nvPr>
            <p:ph idx="4294967295" type="sldNum"/>
          </p:nvPr>
        </p:nvSpPr>
        <p:spPr>
          <a:xfrm>
            <a:off x="11338560" y="62636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A748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7"/>
          <p:cNvSpPr txBox="1"/>
          <p:nvPr>
            <p:ph type="title"/>
          </p:nvPr>
        </p:nvSpPr>
        <p:spPr>
          <a:xfrm>
            <a:off x="640080" y="502920"/>
            <a:ext cx="10241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C2233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0C2233"/>
                </a:solidFill>
                <a:latin typeface="Cambria"/>
                <a:ea typeface="Cambria"/>
                <a:cs typeface="Cambria"/>
                <a:sym typeface="Cambria"/>
              </a:rPr>
              <a:t>A typical training loop</a:t>
            </a:r>
            <a:endParaRPr sz="3200"/>
          </a:p>
        </p:txBody>
      </p:sp>
      <p:sp>
        <p:nvSpPr>
          <p:cNvPr id="207" name="Google Shape;207;p17"/>
          <p:cNvSpPr/>
          <p:nvPr/>
        </p:nvSpPr>
        <p:spPr>
          <a:xfrm>
            <a:off x="640080" y="2148840"/>
            <a:ext cx="2514600" cy="2103120"/>
          </a:xfrm>
          <a:prstGeom prst="roundRect">
            <a:avLst>
              <a:gd fmla="val 3913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25400">
              <a:srgbClr val="0C22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7"/>
          <p:cNvSpPr/>
          <p:nvPr/>
        </p:nvSpPr>
        <p:spPr>
          <a:xfrm>
            <a:off x="1645920" y="2395728"/>
            <a:ext cx="502920" cy="502920"/>
          </a:xfrm>
          <a:prstGeom prst="ellipse">
            <a:avLst/>
          </a:prstGeom>
          <a:solidFill>
            <a:srgbClr val="146B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7"/>
          <p:cNvSpPr/>
          <p:nvPr/>
        </p:nvSpPr>
        <p:spPr>
          <a:xfrm>
            <a:off x="1645920" y="239572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7"/>
          <p:cNvSpPr/>
          <p:nvPr/>
        </p:nvSpPr>
        <p:spPr>
          <a:xfrm>
            <a:off x="640080" y="306324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2233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C2233"/>
                </a:solidFill>
                <a:latin typeface="Calibri"/>
                <a:ea typeface="Calibri"/>
                <a:cs typeface="Calibri"/>
                <a:sym typeface="Calibri"/>
              </a:rPr>
              <a:t>Batch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7"/>
          <p:cNvSpPr/>
          <p:nvPr/>
        </p:nvSpPr>
        <p:spPr>
          <a:xfrm>
            <a:off x="822960" y="347472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748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rPr>
              <a:t>Sample and augment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7"/>
          <p:cNvSpPr/>
          <p:nvPr/>
        </p:nvSpPr>
        <p:spPr>
          <a:xfrm>
            <a:off x="3191256" y="3090672"/>
            <a:ext cx="201168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3EE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7"/>
          <p:cNvSpPr/>
          <p:nvPr/>
        </p:nvSpPr>
        <p:spPr>
          <a:xfrm>
            <a:off x="3429000" y="2148840"/>
            <a:ext cx="2514600" cy="2103120"/>
          </a:xfrm>
          <a:prstGeom prst="roundRect">
            <a:avLst>
              <a:gd fmla="val 3913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25400">
              <a:srgbClr val="0C22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7"/>
          <p:cNvSpPr/>
          <p:nvPr/>
        </p:nvSpPr>
        <p:spPr>
          <a:xfrm>
            <a:off x="4434840" y="2395728"/>
            <a:ext cx="502920" cy="502920"/>
          </a:xfrm>
          <a:prstGeom prst="ellipse">
            <a:avLst/>
          </a:prstGeom>
          <a:solidFill>
            <a:srgbClr val="146B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7"/>
          <p:cNvSpPr/>
          <p:nvPr/>
        </p:nvSpPr>
        <p:spPr>
          <a:xfrm>
            <a:off x="4434840" y="239572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7"/>
          <p:cNvSpPr/>
          <p:nvPr/>
        </p:nvSpPr>
        <p:spPr>
          <a:xfrm>
            <a:off x="3429000" y="306324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2233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C2233"/>
                </a:solidFill>
                <a:latin typeface="Calibri"/>
                <a:ea typeface="Calibri"/>
                <a:cs typeface="Calibri"/>
                <a:sym typeface="Calibri"/>
              </a:rPr>
              <a:t>Forward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7"/>
          <p:cNvSpPr/>
          <p:nvPr/>
        </p:nvSpPr>
        <p:spPr>
          <a:xfrm>
            <a:off x="3611880" y="347472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748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rPr>
              <a:t>Compute logits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7"/>
          <p:cNvSpPr/>
          <p:nvPr/>
        </p:nvSpPr>
        <p:spPr>
          <a:xfrm>
            <a:off x="5980176" y="3090672"/>
            <a:ext cx="201168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3EE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7"/>
          <p:cNvSpPr/>
          <p:nvPr/>
        </p:nvSpPr>
        <p:spPr>
          <a:xfrm>
            <a:off x="6217920" y="2148840"/>
            <a:ext cx="2514600" cy="2103120"/>
          </a:xfrm>
          <a:prstGeom prst="roundRect">
            <a:avLst>
              <a:gd fmla="val 3913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25400">
              <a:srgbClr val="0C22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7"/>
          <p:cNvSpPr/>
          <p:nvPr/>
        </p:nvSpPr>
        <p:spPr>
          <a:xfrm>
            <a:off x="7223760" y="2395728"/>
            <a:ext cx="502920" cy="502920"/>
          </a:xfrm>
          <a:prstGeom prst="ellipse">
            <a:avLst/>
          </a:prstGeom>
          <a:solidFill>
            <a:srgbClr val="146B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7"/>
          <p:cNvSpPr/>
          <p:nvPr/>
        </p:nvSpPr>
        <p:spPr>
          <a:xfrm>
            <a:off x="7223760" y="239572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6217920" y="306324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2233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C2233"/>
                </a:solidFill>
                <a:latin typeface="Calibri"/>
                <a:ea typeface="Calibri"/>
                <a:cs typeface="Calibri"/>
                <a:sym typeface="Calibri"/>
              </a:rPr>
              <a:t>Loss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6400800" y="347472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748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rPr>
              <a:t>Cross-entropy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8769096" y="3090672"/>
            <a:ext cx="201168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3EE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7"/>
          <p:cNvSpPr/>
          <p:nvPr/>
        </p:nvSpPr>
        <p:spPr>
          <a:xfrm>
            <a:off x="9006840" y="2148840"/>
            <a:ext cx="2514600" cy="2103120"/>
          </a:xfrm>
          <a:prstGeom prst="roundRect">
            <a:avLst>
              <a:gd fmla="val 3913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25400">
              <a:srgbClr val="0C22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7"/>
          <p:cNvSpPr/>
          <p:nvPr/>
        </p:nvSpPr>
        <p:spPr>
          <a:xfrm>
            <a:off x="10012680" y="2395728"/>
            <a:ext cx="502920" cy="502920"/>
          </a:xfrm>
          <a:prstGeom prst="ellipse">
            <a:avLst/>
          </a:prstGeom>
          <a:solidFill>
            <a:srgbClr val="F19F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7"/>
          <p:cNvSpPr/>
          <p:nvPr/>
        </p:nvSpPr>
        <p:spPr>
          <a:xfrm>
            <a:off x="10012680" y="239572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2233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C223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7"/>
          <p:cNvSpPr/>
          <p:nvPr/>
        </p:nvSpPr>
        <p:spPr>
          <a:xfrm>
            <a:off x="9006840" y="306324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2233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C2233"/>
                </a:solidFill>
                <a:latin typeface="Calibri"/>
                <a:ea typeface="Calibri"/>
                <a:cs typeface="Calibri"/>
                <a:sym typeface="Calibri"/>
              </a:rPr>
              <a:t>Backward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7"/>
          <p:cNvSpPr/>
          <p:nvPr/>
        </p:nvSpPr>
        <p:spPr>
          <a:xfrm>
            <a:off x="9189720" y="347472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748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rPr>
              <a:t>Autograd + step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7"/>
          <p:cNvSpPr/>
          <p:nvPr/>
        </p:nvSpPr>
        <p:spPr>
          <a:xfrm>
            <a:off x="640080" y="480060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7484"/>
              </a:buClr>
              <a:buSzPts val="1600"/>
              <a:buFont typeface="Cambria"/>
              <a:buNone/>
            </a:pPr>
            <a:r>
              <a:rPr b="0" i="1" lang="en-US" sz="1600" u="none" cap="none" strike="noStrike">
                <a:solidFill>
                  <a:srgbClr val="5A7484"/>
                </a:solidFill>
                <a:latin typeface="Cambria"/>
                <a:ea typeface="Cambria"/>
                <a:cs typeface="Cambria"/>
                <a:sym typeface="Cambria"/>
              </a:rPr>
              <a:t>Everything else — schedulers, EMA, mixed precision — hangs off these four steps.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7"/>
          <p:cNvSpPr txBox="1"/>
          <p:nvPr>
            <p:ph idx="4294967295" type="sldNum"/>
          </p:nvPr>
        </p:nvSpPr>
        <p:spPr>
          <a:xfrm>
            <a:off x="11338560" y="62636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A748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8"/>
          <p:cNvSpPr txBox="1"/>
          <p:nvPr>
            <p:ph type="title"/>
          </p:nvPr>
        </p:nvSpPr>
        <p:spPr>
          <a:xfrm>
            <a:off x="640080" y="502920"/>
            <a:ext cx="10241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C2233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0C2233"/>
                </a:solidFill>
                <a:latin typeface="Cambria"/>
                <a:ea typeface="Cambria"/>
                <a:cs typeface="Cambria"/>
                <a:sym typeface="Cambria"/>
              </a:rPr>
              <a:t>ImageNet top-1 accuracy over time</a:t>
            </a:r>
            <a:endParaRPr sz="3200"/>
          </a:p>
        </p:txBody>
      </p:sp>
      <p:pic>
        <p:nvPicPr>
          <p:cNvPr id="238" name="Google Shape;23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54480"/>
            <a:ext cx="749808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8"/>
          <p:cNvSpPr/>
          <p:nvPr/>
        </p:nvSpPr>
        <p:spPr>
          <a:xfrm>
            <a:off x="8549640" y="1554480"/>
            <a:ext cx="2971800" cy="4114800"/>
          </a:xfrm>
          <a:prstGeom prst="roundRect">
            <a:avLst>
              <a:gd fmla="val 276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25400">
              <a:srgbClr val="0C22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8"/>
          <p:cNvSpPr/>
          <p:nvPr/>
        </p:nvSpPr>
        <p:spPr>
          <a:xfrm>
            <a:off x="8823960" y="1810512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6B9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46B93"/>
                </a:solidFill>
                <a:latin typeface="Calibri"/>
                <a:ea typeface="Calibri"/>
                <a:cs typeface="Calibri"/>
                <a:sym typeface="Calibri"/>
              </a:rPr>
              <a:t>Reading the trend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8"/>
          <p:cNvSpPr/>
          <p:nvPr/>
        </p:nvSpPr>
        <p:spPr>
          <a:xfrm>
            <a:off x="8823960" y="2286000"/>
            <a:ext cx="242316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404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3404F"/>
                </a:solidFill>
                <a:latin typeface="Calibri"/>
                <a:ea typeface="Calibri"/>
                <a:cs typeface="Calibri"/>
                <a:sym typeface="Calibri"/>
              </a:rPr>
              <a:t>Depth gave the first jump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3404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3404F"/>
                </a:solidFill>
                <a:latin typeface="Calibri"/>
                <a:ea typeface="Calibri"/>
                <a:cs typeface="Calibri"/>
                <a:sym typeface="Calibri"/>
              </a:rPr>
              <a:t>Residuals made depth trainable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3404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3404F"/>
                </a:solidFill>
                <a:latin typeface="Calibri"/>
                <a:ea typeface="Calibri"/>
                <a:cs typeface="Calibri"/>
                <a:sym typeface="Calibri"/>
              </a:rPr>
              <a:t>Scaling rules beat hand design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3404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3404F"/>
                </a:solidFill>
                <a:latin typeface="Calibri"/>
                <a:ea typeface="Calibri"/>
                <a:cs typeface="Calibri"/>
                <a:sym typeface="Calibri"/>
              </a:rPr>
              <a:t>Modern convnets match ViTs at equal compute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8"/>
          <p:cNvSpPr txBox="1"/>
          <p:nvPr>
            <p:ph idx="4294967295" type="sldNum"/>
          </p:nvPr>
        </p:nvSpPr>
        <p:spPr>
          <a:xfrm>
            <a:off x="11338560" y="62636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A748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9"/>
          <p:cNvSpPr txBox="1"/>
          <p:nvPr>
            <p:ph type="title"/>
          </p:nvPr>
        </p:nvSpPr>
        <p:spPr>
          <a:xfrm>
            <a:off x="640080" y="502920"/>
            <a:ext cx="10241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C2233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0C2233"/>
                </a:solidFill>
                <a:latin typeface="Cambria"/>
                <a:ea typeface="Cambria"/>
                <a:cs typeface="Cambria"/>
                <a:sym typeface="Cambria"/>
              </a:rPr>
              <a:t>Two ways to grow the receptive field</a:t>
            </a:r>
            <a:endParaRPr sz="3200"/>
          </a:p>
        </p:txBody>
      </p:sp>
      <p:sp>
        <p:nvSpPr>
          <p:cNvPr id="249" name="Google Shape;249;p19"/>
          <p:cNvSpPr/>
          <p:nvPr/>
        </p:nvSpPr>
        <p:spPr>
          <a:xfrm>
            <a:off x="640080" y="1600200"/>
            <a:ext cx="5303520" cy="3977640"/>
          </a:xfrm>
          <a:prstGeom prst="roundRect">
            <a:avLst>
              <a:gd fmla="val 206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25400">
              <a:srgbClr val="0C22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9"/>
          <p:cNvSpPr/>
          <p:nvPr/>
        </p:nvSpPr>
        <p:spPr>
          <a:xfrm>
            <a:off x="1005840" y="1920240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146B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9"/>
          <p:cNvSpPr/>
          <p:nvPr/>
        </p:nvSpPr>
        <p:spPr>
          <a:xfrm>
            <a:off x="1005840" y="19202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1645920" y="19202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233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C2233"/>
                </a:solidFill>
                <a:latin typeface="Calibri"/>
                <a:ea typeface="Calibri"/>
                <a:cs typeface="Calibri"/>
                <a:sym typeface="Calibri"/>
              </a:rPr>
              <a:t>Stack more layers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1051560" y="2697480"/>
            <a:ext cx="44805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404F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3404F"/>
                </a:solidFill>
                <a:latin typeface="Calibri"/>
                <a:ea typeface="Calibri"/>
                <a:cs typeface="Calibri"/>
                <a:sym typeface="Calibri"/>
              </a:rPr>
              <a:t>Receptive field grows linearly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3404F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3404F"/>
                </a:solidFill>
                <a:latin typeface="Calibri"/>
                <a:ea typeface="Calibri"/>
                <a:cs typeface="Calibri"/>
                <a:sym typeface="Calibri"/>
              </a:rPr>
              <a:t>Parameters grow linearly too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3404F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3404F"/>
                </a:solidFill>
                <a:latin typeface="Calibri"/>
                <a:ea typeface="Calibri"/>
                <a:cs typeface="Calibri"/>
                <a:sym typeface="Calibri"/>
              </a:rPr>
              <a:t>Deeper means harder to optimise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3404F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3404F"/>
                </a:solidFill>
                <a:latin typeface="Calibri"/>
                <a:ea typeface="Calibri"/>
                <a:cs typeface="Calibri"/>
                <a:sym typeface="Calibri"/>
              </a:rPr>
              <a:t>Needs residual connections past ~20 layers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6217920" y="1600200"/>
            <a:ext cx="5303520" cy="3977640"/>
          </a:xfrm>
          <a:prstGeom prst="roundRect">
            <a:avLst>
              <a:gd fmla="val 206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25400">
              <a:srgbClr val="0C22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9"/>
          <p:cNvSpPr/>
          <p:nvPr/>
        </p:nvSpPr>
        <p:spPr>
          <a:xfrm>
            <a:off x="6583680" y="1920240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F19F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9"/>
          <p:cNvSpPr/>
          <p:nvPr/>
        </p:nvSpPr>
        <p:spPr>
          <a:xfrm>
            <a:off x="6583680" y="19202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2233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C223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7223760" y="19202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233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C2233"/>
                </a:solidFill>
                <a:latin typeface="Calibri"/>
                <a:ea typeface="Calibri"/>
                <a:cs typeface="Calibri"/>
                <a:sym typeface="Calibri"/>
              </a:rPr>
              <a:t>Dilate the kernel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6629400" y="2697480"/>
            <a:ext cx="44805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404F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3404F"/>
                </a:solidFill>
                <a:latin typeface="Calibri"/>
                <a:ea typeface="Calibri"/>
                <a:cs typeface="Calibri"/>
                <a:sym typeface="Calibri"/>
              </a:rPr>
              <a:t>Receptive field grows exponentially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3404F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3404F"/>
                </a:solidFill>
                <a:latin typeface="Calibri"/>
                <a:ea typeface="Calibri"/>
                <a:cs typeface="Calibri"/>
                <a:sym typeface="Calibri"/>
              </a:rPr>
              <a:t>Parameter count stays fixed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3404F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3404F"/>
                </a:solidFill>
                <a:latin typeface="Calibri"/>
                <a:ea typeface="Calibri"/>
                <a:cs typeface="Calibri"/>
                <a:sym typeface="Calibri"/>
              </a:rPr>
              <a:t>Gridding artefacts if dilation jumps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3404F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3404F"/>
                </a:solidFill>
                <a:latin typeface="Calibri"/>
                <a:ea typeface="Calibri"/>
                <a:cs typeface="Calibri"/>
                <a:sym typeface="Calibri"/>
              </a:rPr>
              <a:t>Standard in segmentation heads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9"/>
          <p:cNvSpPr txBox="1"/>
          <p:nvPr>
            <p:ph idx="4294967295" type="sldNum"/>
          </p:nvPr>
        </p:nvSpPr>
        <p:spPr>
          <a:xfrm>
            <a:off x="11338560" y="62636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A748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0"/>
          <p:cNvSpPr txBox="1"/>
          <p:nvPr>
            <p:ph type="title"/>
          </p:nvPr>
        </p:nvSpPr>
        <p:spPr>
          <a:xfrm>
            <a:off x="640080" y="502920"/>
            <a:ext cx="10241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C2233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0C2233"/>
                </a:solidFill>
                <a:latin typeface="Cambria"/>
                <a:ea typeface="Cambria"/>
                <a:cs typeface="Cambria"/>
                <a:sym typeface="Cambria"/>
              </a:rPr>
              <a:t>Convolution vs. self-attention</a:t>
            </a:r>
            <a:endParaRPr sz="3200"/>
          </a:p>
        </p:txBody>
      </p:sp>
      <p:graphicFrame>
        <p:nvGraphicFramePr>
          <p:cNvPr id="266" name="Google Shape;266;p20"/>
          <p:cNvGraphicFramePr/>
          <p:nvPr/>
        </p:nvGraphicFramePr>
        <p:xfrm>
          <a:off x="64008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{6B8D7404-D6BE-44C7-8BD2-F99EC50911EB}</a:tableStyleId>
              </a:tblPr>
              <a:tblGrid>
                <a:gridCol w="2834650"/>
                <a:gridCol w="4023350"/>
                <a:gridCol w="402335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Property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22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Convolution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22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Self-attention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2233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404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3404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Receptive field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404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3404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Local, grows with depth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404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3404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Global from layer one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404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3404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Inductive bias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404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3404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Locality and translation equivariance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404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3404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Almost none — learned from data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404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3404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 in sequence length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404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3404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Linear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404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3404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Quadratic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404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3404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efficiency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404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3404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Strong on small datasets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404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3404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Needs scale or heavy augmentation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E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7" name="Google Shape;267;p20"/>
          <p:cNvSpPr/>
          <p:nvPr/>
        </p:nvSpPr>
        <p:spPr>
          <a:xfrm>
            <a:off x="640080" y="5029200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484"/>
              </a:buClr>
              <a:buSzPts val="1600"/>
              <a:buFont typeface="Cambria"/>
              <a:buNone/>
            </a:pPr>
            <a:r>
              <a:rPr b="0" i="1" lang="en-US" sz="1600" u="none" cap="none" strike="noStrike">
                <a:solidFill>
                  <a:srgbClr val="5A7484"/>
                </a:solidFill>
                <a:latin typeface="Cambria"/>
                <a:ea typeface="Cambria"/>
                <a:cs typeface="Cambria"/>
                <a:sym typeface="Cambria"/>
              </a:rPr>
              <a:t>Neither wins outright — the choice follows your data budget.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0"/>
          <p:cNvSpPr txBox="1"/>
          <p:nvPr>
            <p:ph idx="4294967295" type="sldNum"/>
          </p:nvPr>
        </p:nvSpPr>
        <p:spPr>
          <a:xfrm>
            <a:off x="11338560" y="62636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A748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1"/>
          <p:cNvSpPr txBox="1"/>
          <p:nvPr>
            <p:ph type="title"/>
          </p:nvPr>
        </p:nvSpPr>
        <p:spPr>
          <a:xfrm>
            <a:off x="640080" y="502920"/>
            <a:ext cx="10241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C2233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0C2233"/>
                </a:solidFill>
                <a:latin typeface="Cambria"/>
                <a:ea typeface="Cambria"/>
                <a:cs typeface="Cambria"/>
                <a:sym typeface="Cambria"/>
              </a:rPr>
              <a:t>What the filters learn</a:t>
            </a:r>
            <a:endParaRPr sz="3200"/>
          </a:p>
        </p:txBody>
      </p:sp>
      <p:sp>
        <p:nvSpPr>
          <p:cNvPr id="275" name="Google Shape;275;p21"/>
          <p:cNvSpPr/>
          <p:nvPr/>
        </p:nvSpPr>
        <p:spPr>
          <a:xfrm>
            <a:off x="640080" y="1554480"/>
            <a:ext cx="10881360" cy="3794760"/>
          </a:xfrm>
          <a:prstGeom prst="roundRect">
            <a:avLst>
              <a:gd fmla="val 216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25400">
              <a:srgbClr val="0C22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1"/>
          <p:cNvSpPr/>
          <p:nvPr/>
        </p:nvSpPr>
        <p:spPr>
          <a:xfrm>
            <a:off x="1234440" y="2176272"/>
            <a:ext cx="594360" cy="594360"/>
          </a:xfrm>
          <a:prstGeom prst="roundRect">
            <a:avLst>
              <a:gd fmla="val 7692" name="adj"/>
            </a:avLst>
          </a:prstGeom>
          <a:solidFill>
            <a:srgbClr val="146B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1"/>
          <p:cNvSpPr/>
          <p:nvPr/>
        </p:nvSpPr>
        <p:spPr>
          <a:xfrm>
            <a:off x="1883664" y="2176272"/>
            <a:ext cx="594360" cy="594360"/>
          </a:xfrm>
          <a:prstGeom prst="roundRect">
            <a:avLst>
              <a:gd fmla="val 7692" name="adj"/>
            </a:avLst>
          </a:prstGeom>
          <a:solidFill>
            <a:srgbClr val="E3EEF1">
              <a:alpha val="8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1"/>
          <p:cNvSpPr/>
          <p:nvPr/>
        </p:nvSpPr>
        <p:spPr>
          <a:xfrm>
            <a:off x="2532888" y="2176272"/>
            <a:ext cx="594360" cy="594360"/>
          </a:xfrm>
          <a:prstGeom prst="roundRect">
            <a:avLst>
              <a:gd fmla="val 7692" name="adj"/>
            </a:avLst>
          </a:prstGeom>
          <a:solidFill>
            <a:srgbClr val="146B93">
              <a:alpha val="7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1"/>
          <p:cNvSpPr/>
          <p:nvPr/>
        </p:nvSpPr>
        <p:spPr>
          <a:xfrm>
            <a:off x="3182112" y="2176272"/>
            <a:ext cx="594360" cy="594360"/>
          </a:xfrm>
          <a:prstGeom prst="roundRect">
            <a:avLst>
              <a:gd fmla="val 7692" name="adj"/>
            </a:avLst>
          </a:prstGeom>
          <a:solidFill>
            <a:srgbClr val="E3EEF1">
              <a:alpha val="6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1"/>
          <p:cNvSpPr/>
          <p:nvPr/>
        </p:nvSpPr>
        <p:spPr>
          <a:xfrm>
            <a:off x="3831336" y="2176272"/>
            <a:ext cx="594360" cy="594360"/>
          </a:xfrm>
          <a:prstGeom prst="roundRect">
            <a:avLst>
              <a:gd fmla="val 7692" name="adj"/>
            </a:avLst>
          </a:prstGeom>
          <a:solidFill>
            <a:srgbClr val="146B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1"/>
          <p:cNvSpPr/>
          <p:nvPr/>
        </p:nvSpPr>
        <p:spPr>
          <a:xfrm>
            <a:off x="4480560" y="2176272"/>
            <a:ext cx="594360" cy="594360"/>
          </a:xfrm>
          <a:prstGeom prst="roundRect">
            <a:avLst>
              <a:gd fmla="val 7692" name="adj"/>
            </a:avLst>
          </a:prstGeom>
          <a:solidFill>
            <a:srgbClr val="E3EEF1">
              <a:alpha val="8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1"/>
          <p:cNvSpPr/>
          <p:nvPr/>
        </p:nvSpPr>
        <p:spPr>
          <a:xfrm>
            <a:off x="5129784" y="2176272"/>
            <a:ext cx="594360" cy="594360"/>
          </a:xfrm>
          <a:prstGeom prst="roundRect">
            <a:avLst>
              <a:gd fmla="val 7692" name="adj"/>
            </a:avLst>
          </a:prstGeom>
          <a:solidFill>
            <a:srgbClr val="146B93">
              <a:alpha val="7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1"/>
          <p:cNvSpPr/>
          <p:nvPr/>
        </p:nvSpPr>
        <p:spPr>
          <a:xfrm>
            <a:off x="5779008" y="2176272"/>
            <a:ext cx="594360" cy="594360"/>
          </a:xfrm>
          <a:prstGeom prst="roundRect">
            <a:avLst>
              <a:gd fmla="val 7692" name="adj"/>
            </a:avLst>
          </a:prstGeom>
          <a:solidFill>
            <a:srgbClr val="E3EEF1">
              <a:alpha val="6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1"/>
          <p:cNvSpPr/>
          <p:nvPr/>
        </p:nvSpPr>
        <p:spPr>
          <a:xfrm>
            <a:off x="6428232" y="2176272"/>
            <a:ext cx="594360" cy="594360"/>
          </a:xfrm>
          <a:prstGeom prst="roundRect">
            <a:avLst>
              <a:gd fmla="val 7692" name="adj"/>
            </a:avLst>
          </a:prstGeom>
          <a:solidFill>
            <a:srgbClr val="146B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1"/>
          <p:cNvSpPr/>
          <p:nvPr/>
        </p:nvSpPr>
        <p:spPr>
          <a:xfrm>
            <a:off x="7077456" y="2176272"/>
            <a:ext cx="594360" cy="594360"/>
          </a:xfrm>
          <a:prstGeom prst="roundRect">
            <a:avLst>
              <a:gd fmla="val 7692" name="adj"/>
            </a:avLst>
          </a:prstGeom>
          <a:solidFill>
            <a:srgbClr val="E3EEF1">
              <a:alpha val="8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1"/>
          <p:cNvSpPr/>
          <p:nvPr/>
        </p:nvSpPr>
        <p:spPr>
          <a:xfrm>
            <a:off x="7726680" y="2176272"/>
            <a:ext cx="594360" cy="594360"/>
          </a:xfrm>
          <a:prstGeom prst="roundRect">
            <a:avLst>
              <a:gd fmla="val 7692" name="adj"/>
            </a:avLst>
          </a:prstGeom>
          <a:solidFill>
            <a:srgbClr val="146B93">
              <a:alpha val="7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1"/>
          <p:cNvSpPr/>
          <p:nvPr/>
        </p:nvSpPr>
        <p:spPr>
          <a:xfrm>
            <a:off x="8375904" y="2176272"/>
            <a:ext cx="594360" cy="594360"/>
          </a:xfrm>
          <a:prstGeom prst="roundRect">
            <a:avLst>
              <a:gd fmla="val 7692" name="adj"/>
            </a:avLst>
          </a:prstGeom>
          <a:solidFill>
            <a:srgbClr val="E3EEF1">
              <a:alpha val="6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1"/>
          <p:cNvSpPr/>
          <p:nvPr/>
        </p:nvSpPr>
        <p:spPr>
          <a:xfrm>
            <a:off x="9025128" y="2176272"/>
            <a:ext cx="594360" cy="594360"/>
          </a:xfrm>
          <a:prstGeom prst="roundRect">
            <a:avLst>
              <a:gd fmla="val 7692" name="adj"/>
            </a:avLst>
          </a:prstGeom>
          <a:solidFill>
            <a:srgbClr val="146B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1"/>
          <p:cNvSpPr/>
          <p:nvPr/>
        </p:nvSpPr>
        <p:spPr>
          <a:xfrm>
            <a:off x="9674352" y="2176272"/>
            <a:ext cx="594360" cy="594360"/>
          </a:xfrm>
          <a:prstGeom prst="roundRect">
            <a:avLst>
              <a:gd fmla="val 7692" name="adj"/>
            </a:avLst>
          </a:prstGeom>
          <a:solidFill>
            <a:srgbClr val="E3EEF1">
              <a:alpha val="8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1"/>
          <p:cNvSpPr/>
          <p:nvPr/>
        </p:nvSpPr>
        <p:spPr>
          <a:xfrm>
            <a:off x="10323576" y="2176272"/>
            <a:ext cx="594360" cy="594360"/>
          </a:xfrm>
          <a:prstGeom prst="roundRect">
            <a:avLst>
              <a:gd fmla="val 7692" name="adj"/>
            </a:avLst>
          </a:prstGeom>
          <a:solidFill>
            <a:srgbClr val="146B93">
              <a:alpha val="7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1"/>
          <p:cNvSpPr/>
          <p:nvPr/>
        </p:nvSpPr>
        <p:spPr>
          <a:xfrm>
            <a:off x="1234440" y="2825496"/>
            <a:ext cx="594360" cy="594360"/>
          </a:xfrm>
          <a:prstGeom prst="roundRect">
            <a:avLst>
              <a:gd fmla="val 7692" name="adj"/>
            </a:avLst>
          </a:prstGeom>
          <a:solidFill>
            <a:srgbClr val="1634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1"/>
          <p:cNvSpPr/>
          <p:nvPr/>
        </p:nvSpPr>
        <p:spPr>
          <a:xfrm>
            <a:off x="1883664" y="2825496"/>
            <a:ext cx="594360" cy="594360"/>
          </a:xfrm>
          <a:prstGeom prst="roundRect">
            <a:avLst>
              <a:gd fmla="val 7692" name="adj"/>
            </a:avLst>
          </a:prstGeom>
          <a:solidFill>
            <a:srgbClr val="6EC7BF">
              <a:alpha val="8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1"/>
          <p:cNvSpPr/>
          <p:nvPr/>
        </p:nvSpPr>
        <p:spPr>
          <a:xfrm>
            <a:off x="2532888" y="2825496"/>
            <a:ext cx="594360" cy="594360"/>
          </a:xfrm>
          <a:prstGeom prst="roundRect">
            <a:avLst>
              <a:gd fmla="val 7692" name="adj"/>
            </a:avLst>
          </a:prstGeom>
          <a:solidFill>
            <a:srgbClr val="16344A">
              <a:alpha val="7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1"/>
          <p:cNvSpPr/>
          <p:nvPr/>
        </p:nvSpPr>
        <p:spPr>
          <a:xfrm>
            <a:off x="3182112" y="2825496"/>
            <a:ext cx="594360" cy="594360"/>
          </a:xfrm>
          <a:prstGeom prst="roundRect">
            <a:avLst>
              <a:gd fmla="val 7692" name="adj"/>
            </a:avLst>
          </a:prstGeom>
          <a:solidFill>
            <a:srgbClr val="6EC7BF">
              <a:alpha val="6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1"/>
          <p:cNvSpPr/>
          <p:nvPr/>
        </p:nvSpPr>
        <p:spPr>
          <a:xfrm>
            <a:off x="3831336" y="2825496"/>
            <a:ext cx="594360" cy="594360"/>
          </a:xfrm>
          <a:prstGeom prst="roundRect">
            <a:avLst>
              <a:gd fmla="val 7692" name="adj"/>
            </a:avLst>
          </a:prstGeom>
          <a:solidFill>
            <a:srgbClr val="1634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1"/>
          <p:cNvSpPr/>
          <p:nvPr/>
        </p:nvSpPr>
        <p:spPr>
          <a:xfrm>
            <a:off x="4480560" y="2825496"/>
            <a:ext cx="594360" cy="594360"/>
          </a:xfrm>
          <a:prstGeom prst="roundRect">
            <a:avLst>
              <a:gd fmla="val 7692" name="adj"/>
            </a:avLst>
          </a:prstGeom>
          <a:solidFill>
            <a:srgbClr val="6EC7BF">
              <a:alpha val="8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1"/>
          <p:cNvSpPr/>
          <p:nvPr/>
        </p:nvSpPr>
        <p:spPr>
          <a:xfrm>
            <a:off x="5129784" y="2825496"/>
            <a:ext cx="594360" cy="594360"/>
          </a:xfrm>
          <a:prstGeom prst="roundRect">
            <a:avLst>
              <a:gd fmla="val 7692" name="adj"/>
            </a:avLst>
          </a:prstGeom>
          <a:solidFill>
            <a:srgbClr val="16344A">
              <a:alpha val="7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1"/>
          <p:cNvSpPr/>
          <p:nvPr/>
        </p:nvSpPr>
        <p:spPr>
          <a:xfrm>
            <a:off x="5779008" y="2825496"/>
            <a:ext cx="594360" cy="594360"/>
          </a:xfrm>
          <a:prstGeom prst="roundRect">
            <a:avLst>
              <a:gd fmla="val 7692" name="adj"/>
            </a:avLst>
          </a:prstGeom>
          <a:solidFill>
            <a:srgbClr val="6EC7BF">
              <a:alpha val="6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1"/>
          <p:cNvSpPr/>
          <p:nvPr/>
        </p:nvSpPr>
        <p:spPr>
          <a:xfrm>
            <a:off x="6428232" y="2825496"/>
            <a:ext cx="594360" cy="594360"/>
          </a:xfrm>
          <a:prstGeom prst="roundRect">
            <a:avLst>
              <a:gd fmla="val 7692" name="adj"/>
            </a:avLst>
          </a:prstGeom>
          <a:solidFill>
            <a:srgbClr val="1634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1"/>
          <p:cNvSpPr/>
          <p:nvPr/>
        </p:nvSpPr>
        <p:spPr>
          <a:xfrm>
            <a:off x="7077456" y="2825496"/>
            <a:ext cx="594360" cy="594360"/>
          </a:xfrm>
          <a:prstGeom prst="roundRect">
            <a:avLst>
              <a:gd fmla="val 7692" name="adj"/>
            </a:avLst>
          </a:prstGeom>
          <a:solidFill>
            <a:srgbClr val="6EC7BF">
              <a:alpha val="8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1"/>
          <p:cNvSpPr/>
          <p:nvPr/>
        </p:nvSpPr>
        <p:spPr>
          <a:xfrm>
            <a:off x="7726680" y="2825496"/>
            <a:ext cx="594360" cy="594360"/>
          </a:xfrm>
          <a:prstGeom prst="roundRect">
            <a:avLst>
              <a:gd fmla="val 7692" name="adj"/>
            </a:avLst>
          </a:prstGeom>
          <a:solidFill>
            <a:srgbClr val="16344A">
              <a:alpha val="7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1"/>
          <p:cNvSpPr/>
          <p:nvPr/>
        </p:nvSpPr>
        <p:spPr>
          <a:xfrm>
            <a:off x="8375904" y="2825496"/>
            <a:ext cx="594360" cy="594360"/>
          </a:xfrm>
          <a:prstGeom prst="roundRect">
            <a:avLst>
              <a:gd fmla="val 7692" name="adj"/>
            </a:avLst>
          </a:prstGeom>
          <a:solidFill>
            <a:srgbClr val="6EC7BF">
              <a:alpha val="6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1"/>
          <p:cNvSpPr/>
          <p:nvPr/>
        </p:nvSpPr>
        <p:spPr>
          <a:xfrm>
            <a:off x="9025128" y="2825496"/>
            <a:ext cx="594360" cy="594360"/>
          </a:xfrm>
          <a:prstGeom prst="roundRect">
            <a:avLst>
              <a:gd fmla="val 7692" name="adj"/>
            </a:avLst>
          </a:prstGeom>
          <a:solidFill>
            <a:srgbClr val="1634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1"/>
          <p:cNvSpPr/>
          <p:nvPr/>
        </p:nvSpPr>
        <p:spPr>
          <a:xfrm>
            <a:off x="9674352" y="2825496"/>
            <a:ext cx="594360" cy="594360"/>
          </a:xfrm>
          <a:prstGeom prst="roundRect">
            <a:avLst>
              <a:gd fmla="val 7692" name="adj"/>
            </a:avLst>
          </a:prstGeom>
          <a:solidFill>
            <a:srgbClr val="6EC7BF">
              <a:alpha val="8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1"/>
          <p:cNvSpPr/>
          <p:nvPr/>
        </p:nvSpPr>
        <p:spPr>
          <a:xfrm>
            <a:off x="10323576" y="2825496"/>
            <a:ext cx="594360" cy="594360"/>
          </a:xfrm>
          <a:prstGeom prst="roundRect">
            <a:avLst>
              <a:gd fmla="val 7692" name="adj"/>
            </a:avLst>
          </a:prstGeom>
          <a:solidFill>
            <a:srgbClr val="16344A">
              <a:alpha val="7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1"/>
          <p:cNvSpPr/>
          <p:nvPr/>
        </p:nvSpPr>
        <p:spPr>
          <a:xfrm>
            <a:off x="1234440" y="3474720"/>
            <a:ext cx="594360" cy="594360"/>
          </a:xfrm>
          <a:prstGeom prst="roundRect">
            <a:avLst>
              <a:gd fmla="val 7692" name="adj"/>
            </a:avLst>
          </a:prstGeom>
          <a:solidFill>
            <a:srgbClr val="F19F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1"/>
          <p:cNvSpPr/>
          <p:nvPr/>
        </p:nvSpPr>
        <p:spPr>
          <a:xfrm>
            <a:off x="1883664" y="3474720"/>
            <a:ext cx="594360" cy="594360"/>
          </a:xfrm>
          <a:prstGeom prst="roundRect">
            <a:avLst>
              <a:gd fmla="val 7692" name="adj"/>
            </a:avLst>
          </a:prstGeom>
          <a:solidFill>
            <a:srgbClr val="5A7484">
              <a:alpha val="8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1"/>
          <p:cNvSpPr/>
          <p:nvPr/>
        </p:nvSpPr>
        <p:spPr>
          <a:xfrm>
            <a:off x="2532888" y="3474720"/>
            <a:ext cx="594360" cy="594360"/>
          </a:xfrm>
          <a:prstGeom prst="roundRect">
            <a:avLst>
              <a:gd fmla="val 7692" name="adj"/>
            </a:avLst>
          </a:prstGeom>
          <a:solidFill>
            <a:srgbClr val="F19F22">
              <a:alpha val="7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1"/>
          <p:cNvSpPr/>
          <p:nvPr/>
        </p:nvSpPr>
        <p:spPr>
          <a:xfrm>
            <a:off x="3182112" y="3474720"/>
            <a:ext cx="594360" cy="594360"/>
          </a:xfrm>
          <a:prstGeom prst="roundRect">
            <a:avLst>
              <a:gd fmla="val 7692" name="adj"/>
            </a:avLst>
          </a:prstGeom>
          <a:solidFill>
            <a:srgbClr val="5A7484">
              <a:alpha val="6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1"/>
          <p:cNvSpPr/>
          <p:nvPr/>
        </p:nvSpPr>
        <p:spPr>
          <a:xfrm>
            <a:off x="3831336" y="3474720"/>
            <a:ext cx="594360" cy="594360"/>
          </a:xfrm>
          <a:prstGeom prst="roundRect">
            <a:avLst>
              <a:gd fmla="val 7692" name="adj"/>
            </a:avLst>
          </a:prstGeom>
          <a:solidFill>
            <a:srgbClr val="F19F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1"/>
          <p:cNvSpPr/>
          <p:nvPr/>
        </p:nvSpPr>
        <p:spPr>
          <a:xfrm>
            <a:off x="4480560" y="3474720"/>
            <a:ext cx="594360" cy="594360"/>
          </a:xfrm>
          <a:prstGeom prst="roundRect">
            <a:avLst>
              <a:gd fmla="val 7692" name="adj"/>
            </a:avLst>
          </a:prstGeom>
          <a:solidFill>
            <a:srgbClr val="5A7484">
              <a:alpha val="8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1"/>
          <p:cNvSpPr/>
          <p:nvPr/>
        </p:nvSpPr>
        <p:spPr>
          <a:xfrm>
            <a:off x="5129784" y="3474720"/>
            <a:ext cx="594360" cy="594360"/>
          </a:xfrm>
          <a:prstGeom prst="roundRect">
            <a:avLst>
              <a:gd fmla="val 7692" name="adj"/>
            </a:avLst>
          </a:prstGeom>
          <a:solidFill>
            <a:srgbClr val="F19F22">
              <a:alpha val="7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1"/>
          <p:cNvSpPr/>
          <p:nvPr/>
        </p:nvSpPr>
        <p:spPr>
          <a:xfrm>
            <a:off x="5779008" y="3474720"/>
            <a:ext cx="594360" cy="594360"/>
          </a:xfrm>
          <a:prstGeom prst="roundRect">
            <a:avLst>
              <a:gd fmla="val 7692" name="adj"/>
            </a:avLst>
          </a:prstGeom>
          <a:solidFill>
            <a:srgbClr val="5A7484">
              <a:alpha val="6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1"/>
          <p:cNvSpPr/>
          <p:nvPr/>
        </p:nvSpPr>
        <p:spPr>
          <a:xfrm>
            <a:off x="6428232" y="3474720"/>
            <a:ext cx="594360" cy="594360"/>
          </a:xfrm>
          <a:prstGeom prst="roundRect">
            <a:avLst>
              <a:gd fmla="val 7692" name="adj"/>
            </a:avLst>
          </a:prstGeom>
          <a:solidFill>
            <a:srgbClr val="F19F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1"/>
          <p:cNvSpPr/>
          <p:nvPr/>
        </p:nvSpPr>
        <p:spPr>
          <a:xfrm>
            <a:off x="7077456" y="3474720"/>
            <a:ext cx="594360" cy="594360"/>
          </a:xfrm>
          <a:prstGeom prst="roundRect">
            <a:avLst>
              <a:gd fmla="val 7692" name="adj"/>
            </a:avLst>
          </a:prstGeom>
          <a:solidFill>
            <a:srgbClr val="5A7484">
              <a:alpha val="8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1"/>
          <p:cNvSpPr/>
          <p:nvPr/>
        </p:nvSpPr>
        <p:spPr>
          <a:xfrm>
            <a:off x="7726680" y="3474720"/>
            <a:ext cx="594360" cy="594360"/>
          </a:xfrm>
          <a:prstGeom prst="roundRect">
            <a:avLst>
              <a:gd fmla="val 7692" name="adj"/>
            </a:avLst>
          </a:prstGeom>
          <a:solidFill>
            <a:srgbClr val="F19F22">
              <a:alpha val="7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1"/>
          <p:cNvSpPr/>
          <p:nvPr/>
        </p:nvSpPr>
        <p:spPr>
          <a:xfrm>
            <a:off x="8375904" y="3474720"/>
            <a:ext cx="594360" cy="594360"/>
          </a:xfrm>
          <a:prstGeom prst="roundRect">
            <a:avLst>
              <a:gd fmla="val 7692" name="adj"/>
            </a:avLst>
          </a:prstGeom>
          <a:solidFill>
            <a:srgbClr val="5A7484">
              <a:alpha val="6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1"/>
          <p:cNvSpPr/>
          <p:nvPr/>
        </p:nvSpPr>
        <p:spPr>
          <a:xfrm>
            <a:off x="9025128" y="3474720"/>
            <a:ext cx="594360" cy="594360"/>
          </a:xfrm>
          <a:prstGeom prst="roundRect">
            <a:avLst>
              <a:gd fmla="val 7692" name="adj"/>
            </a:avLst>
          </a:prstGeom>
          <a:solidFill>
            <a:srgbClr val="F19F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1"/>
          <p:cNvSpPr/>
          <p:nvPr/>
        </p:nvSpPr>
        <p:spPr>
          <a:xfrm>
            <a:off x="9674352" y="3474720"/>
            <a:ext cx="594360" cy="594360"/>
          </a:xfrm>
          <a:prstGeom prst="roundRect">
            <a:avLst>
              <a:gd fmla="val 7692" name="adj"/>
            </a:avLst>
          </a:prstGeom>
          <a:solidFill>
            <a:srgbClr val="5A7484">
              <a:alpha val="8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1"/>
          <p:cNvSpPr/>
          <p:nvPr/>
        </p:nvSpPr>
        <p:spPr>
          <a:xfrm>
            <a:off x="10323576" y="3474720"/>
            <a:ext cx="594360" cy="594360"/>
          </a:xfrm>
          <a:prstGeom prst="roundRect">
            <a:avLst>
              <a:gd fmla="val 7692" name="adj"/>
            </a:avLst>
          </a:prstGeom>
          <a:solidFill>
            <a:srgbClr val="F19F22">
              <a:alpha val="7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1"/>
          <p:cNvSpPr/>
          <p:nvPr/>
        </p:nvSpPr>
        <p:spPr>
          <a:xfrm>
            <a:off x="1234440" y="4123944"/>
            <a:ext cx="594360" cy="594360"/>
          </a:xfrm>
          <a:prstGeom prst="roundRect">
            <a:avLst>
              <a:gd fmla="val 7692" name="adj"/>
            </a:avLst>
          </a:prstGeom>
          <a:solidFill>
            <a:srgbClr val="146B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1"/>
          <p:cNvSpPr/>
          <p:nvPr/>
        </p:nvSpPr>
        <p:spPr>
          <a:xfrm>
            <a:off x="1883664" y="4123944"/>
            <a:ext cx="594360" cy="594360"/>
          </a:xfrm>
          <a:prstGeom prst="roundRect">
            <a:avLst>
              <a:gd fmla="val 7692" name="adj"/>
            </a:avLst>
          </a:prstGeom>
          <a:solidFill>
            <a:srgbClr val="E3EEF1">
              <a:alpha val="8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1"/>
          <p:cNvSpPr/>
          <p:nvPr/>
        </p:nvSpPr>
        <p:spPr>
          <a:xfrm>
            <a:off x="2532888" y="4123944"/>
            <a:ext cx="594360" cy="594360"/>
          </a:xfrm>
          <a:prstGeom prst="roundRect">
            <a:avLst>
              <a:gd fmla="val 7692" name="adj"/>
            </a:avLst>
          </a:prstGeom>
          <a:solidFill>
            <a:srgbClr val="146B93">
              <a:alpha val="7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1"/>
          <p:cNvSpPr/>
          <p:nvPr/>
        </p:nvSpPr>
        <p:spPr>
          <a:xfrm>
            <a:off x="3182112" y="4123944"/>
            <a:ext cx="594360" cy="594360"/>
          </a:xfrm>
          <a:prstGeom prst="roundRect">
            <a:avLst>
              <a:gd fmla="val 7692" name="adj"/>
            </a:avLst>
          </a:prstGeom>
          <a:solidFill>
            <a:srgbClr val="E3EEF1">
              <a:alpha val="6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1"/>
          <p:cNvSpPr/>
          <p:nvPr/>
        </p:nvSpPr>
        <p:spPr>
          <a:xfrm>
            <a:off x="3831336" y="4123944"/>
            <a:ext cx="594360" cy="594360"/>
          </a:xfrm>
          <a:prstGeom prst="roundRect">
            <a:avLst>
              <a:gd fmla="val 7692" name="adj"/>
            </a:avLst>
          </a:prstGeom>
          <a:solidFill>
            <a:srgbClr val="146B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1"/>
          <p:cNvSpPr/>
          <p:nvPr/>
        </p:nvSpPr>
        <p:spPr>
          <a:xfrm>
            <a:off x="4480560" y="4123944"/>
            <a:ext cx="594360" cy="594360"/>
          </a:xfrm>
          <a:prstGeom prst="roundRect">
            <a:avLst>
              <a:gd fmla="val 7692" name="adj"/>
            </a:avLst>
          </a:prstGeom>
          <a:solidFill>
            <a:srgbClr val="E3EEF1">
              <a:alpha val="8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1"/>
          <p:cNvSpPr/>
          <p:nvPr/>
        </p:nvSpPr>
        <p:spPr>
          <a:xfrm>
            <a:off x="5129784" y="4123944"/>
            <a:ext cx="594360" cy="594360"/>
          </a:xfrm>
          <a:prstGeom prst="roundRect">
            <a:avLst>
              <a:gd fmla="val 7692" name="adj"/>
            </a:avLst>
          </a:prstGeom>
          <a:solidFill>
            <a:srgbClr val="146B93">
              <a:alpha val="7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1"/>
          <p:cNvSpPr/>
          <p:nvPr/>
        </p:nvSpPr>
        <p:spPr>
          <a:xfrm>
            <a:off x="5779008" y="4123944"/>
            <a:ext cx="594360" cy="594360"/>
          </a:xfrm>
          <a:prstGeom prst="roundRect">
            <a:avLst>
              <a:gd fmla="val 7692" name="adj"/>
            </a:avLst>
          </a:prstGeom>
          <a:solidFill>
            <a:srgbClr val="E3EEF1">
              <a:alpha val="6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1"/>
          <p:cNvSpPr/>
          <p:nvPr/>
        </p:nvSpPr>
        <p:spPr>
          <a:xfrm>
            <a:off x="6428232" y="4123944"/>
            <a:ext cx="594360" cy="594360"/>
          </a:xfrm>
          <a:prstGeom prst="roundRect">
            <a:avLst>
              <a:gd fmla="val 7692" name="adj"/>
            </a:avLst>
          </a:prstGeom>
          <a:solidFill>
            <a:srgbClr val="146B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1"/>
          <p:cNvSpPr/>
          <p:nvPr/>
        </p:nvSpPr>
        <p:spPr>
          <a:xfrm>
            <a:off x="7077456" y="4123944"/>
            <a:ext cx="594360" cy="594360"/>
          </a:xfrm>
          <a:prstGeom prst="roundRect">
            <a:avLst>
              <a:gd fmla="val 7692" name="adj"/>
            </a:avLst>
          </a:prstGeom>
          <a:solidFill>
            <a:srgbClr val="E3EEF1">
              <a:alpha val="8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1"/>
          <p:cNvSpPr/>
          <p:nvPr/>
        </p:nvSpPr>
        <p:spPr>
          <a:xfrm>
            <a:off x="7726680" y="4123944"/>
            <a:ext cx="594360" cy="594360"/>
          </a:xfrm>
          <a:prstGeom prst="roundRect">
            <a:avLst>
              <a:gd fmla="val 7692" name="adj"/>
            </a:avLst>
          </a:prstGeom>
          <a:solidFill>
            <a:srgbClr val="146B93">
              <a:alpha val="7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1"/>
          <p:cNvSpPr/>
          <p:nvPr/>
        </p:nvSpPr>
        <p:spPr>
          <a:xfrm>
            <a:off x="8375904" y="4123944"/>
            <a:ext cx="594360" cy="594360"/>
          </a:xfrm>
          <a:prstGeom prst="roundRect">
            <a:avLst>
              <a:gd fmla="val 7692" name="adj"/>
            </a:avLst>
          </a:prstGeom>
          <a:solidFill>
            <a:srgbClr val="E3EEF1">
              <a:alpha val="6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1"/>
          <p:cNvSpPr/>
          <p:nvPr/>
        </p:nvSpPr>
        <p:spPr>
          <a:xfrm>
            <a:off x="9025128" y="4123944"/>
            <a:ext cx="594360" cy="594360"/>
          </a:xfrm>
          <a:prstGeom prst="roundRect">
            <a:avLst>
              <a:gd fmla="val 7692" name="adj"/>
            </a:avLst>
          </a:prstGeom>
          <a:solidFill>
            <a:srgbClr val="146B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1"/>
          <p:cNvSpPr/>
          <p:nvPr/>
        </p:nvSpPr>
        <p:spPr>
          <a:xfrm>
            <a:off x="9674352" y="4123944"/>
            <a:ext cx="594360" cy="594360"/>
          </a:xfrm>
          <a:prstGeom prst="roundRect">
            <a:avLst>
              <a:gd fmla="val 7692" name="adj"/>
            </a:avLst>
          </a:prstGeom>
          <a:solidFill>
            <a:srgbClr val="E3EEF1">
              <a:alpha val="8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1"/>
          <p:cNvSpPr/>
          <p:nvPr/>
        </p:nvSpPr>
        <p:spPr>
          <a:xfrm>
            <a:off x="10323576" y="4123944"/>
            <a:ext cx="594360" cy="594360"/>
          </a:xfrm>
          <a:prstGeom prst="roundRect">
            <a:avLst>
              <a:gd fmla="val 7692" name="adj"/>
            </a:avLst>
          </a:prstGeom>
          <a:solidFill>
            <a:srgbClr val="146B93">
              <a:alpha val="7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1"/>
          <p:cNvSpPr/>
          <p:nvPr/>
        </p:nvSpPr>
        <p:spPr>
          <a:xfrm>
            <a:off x="640080" y="5486400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48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rPr>
              <a:t>Figure — first-layer kernels of a trained CNN. Replace this block with your own image and keep the caption.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1"/>
          <p:cNvSpPr txBox="1"/>
          <p:nvPr>
            <p:ph idx="4294967295" type="sldNum"/>
          </p:nvPr>
        </p:nvSpPr>
        <p:spPr>
          <a:xfrm>
            <a:off x="11338560" y="62636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A748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2"/>
          <p:cNvSpPr txBox="1"/>
          <p:nvPr>
            <p:ph type="title"/>
          </p:nvPr>
        </p:nvSpPr>
        <p:spPr>
          <a:xfrm>
            <a:off x="640080" y="502920"/>
            <a:ext cx="10241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C2233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0C2233"/>
                </a:solidFill>
                <a:latin typeface="Cambria"/>
                <a:ea typeface="Cambria"/>
                <a:cs typeface="Cambria"/>
                <a:sym typeface="Cambria"/>
              </a:rPr>
              <a:t>Failure cases worth showing</a:t>
            </a:r>
            <a:endParaRPr sz="3200"/>
          </a:p>
        </p:txBody>
      </p:sp>
      <p:sp>
        <p:nvSpPr>
          <p:cNvPr id="344" name="Google Shape;344;p22"/>
          <p:cNvSpPr/>
          <p:nvPr/>
        </p:nvSpPr>
        <p:spPr>
          <a:xfrm>
            <a:off x="640080" y="1554480"/>
            <a:ext cx="5303520" cy="1965960"/>
          </a:xfrm>
          <a:prstGeom prst="roundRect">
            <a:avLst>
              <a:gd fmla="val 418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25400">
              <a:srgbClr val="0C22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2"/>
          <p:cNvSpPr/>
          <p:nvPr/>
        </p:nvSpPr>
        <p:spPr>
          <a:xfrm>
            <a:off x="868680" y="1783080"/>
            <a:ext cx="2103120" cy="1508760"/>
          </a:xfrm>
          <a:prstGeom prst="roundRect">
            <a:avLst>
              <a:gd fmla="val 4242" name="adj"/>
            </a:avLst>
          </a:prstGeom>
          <a:solidFill>
            <a:srgbClr val="E3EE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2"/>
          <p:cNvSpPr/>
          <p:nvPr/>
        </p:nvSpPr>
        <p:spPr>
          <a:xfrm>
            <a:off x="868680" y="1783080"/>
            <a:ext cx="210312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748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rPr>
              <a:t>image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2"/>
          <p:cNvSpPr/>
          <p:nvPr/>
        </p:nvSpPr>
        <p:spPr>
          <a:xfrm>
            <a:off x="3154680" y="196596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233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C2233"/>
                </a:solidFill>
                <a:latin typeface="Calibri"/>
                <a:ea typeface="Calibri"/>
                <a:cs typeface="Calibri"/>
                <a:sym typeface="Calibri"/>
              </a:rPr>
              <a:t>Occlusion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2"/>
          <p:cNvSpPr/>
          <p:nvPr/>
        </p:nvSpPr>
        <p:spPr>
          <a:xfrm>
            <a:off x="3154680" y="2423160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A748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rPr>
              <a:t>Confidence collapses when 40% is hidden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2"/>
          <p:cNvSpPr/>
          <p:nvPr/>
        </p:nvSpPr>
        <p:spPr>
          <a:xfrm>
            <a:off x="6217920" y="1554480"/>
            <a:ext cx="5303520" cy="1965960"/>
          </a:xfrm>
          <a:prstGeom prst="roundRect">
            <a:avLst>
              <a:gd fmla="val 418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25400">
              <a:srgbClr val="0C22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2"/>
          <p:cNvSpPr/>
          <p:nvPr/>
        </p:nvSpPr>
        <p:spPr>
          <a:xfrm>
            <a:off x="6446520" y="1783080"/>
            <a:ext cx="2103120" cy="1508760"/>
          </a:xfrm>
          <a:prstGeom prst="roundRect">
            <a:avLst>
              <a:gd fmla="val 4242" name="adj"/>
            </a:avLst>
          </a:prstGeom>
          <a:solidFill>
            <a:srgbClr val="E3EE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2"/>
          <p:cNvSpPr/>
          <p:nvPr/>
        </p:nvSpPr>
        <p:spPr>
          <a:xfrm>
            <a:off x="6446520" y="1783080"/>
            <a:ext cx="210312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748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rPr>
              <a:t>image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2"/>
          <p:cNvSpPr/>
          <p:nvPr/>
        </p:nvSpPr>
        <p:spPr>
          <a:xfrm>
            <a:off x="8732520" y="196596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233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C2233"/>
                </a:solidFill>
                <a:latin typeface="Calibri"/>
                <a:ea typeface="Calibri"/>
                <a:cs typeface="Calibri"/>
                <a:sym typeface="Calibri"/>
              </a:rPr>
              <a:t>Texture bias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2"/>
          <p:cNvSpPr/>
          <p:nvPr/>
        </p:nvSpPr>
        <p:spPr>
          <a:xfrm>
            <a:off x="8732520" y="2423160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A748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rPr>
              <a:t>Shape is ignored when texture conflicts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2"/>
          <p:cNvSpPr/>
          <p:nvPr/>
        </p:nvSpPr>
        <p:spPr>
          <a:xfrm>
            <a:off x="640080" y="3749040"/>
            <a:ext cx="5303520" cy="1965960"/>
          </a:xfrm>
          <a:prstGeom prst="roundRect">
            <a:avLst>
              <a:gd fmla="val 418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25400">
              <a:srgbClr val="0C22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2"/>
          <p:cNvSpPr/>
          <p:nvPr/>
        </p:nvSpPr>
        <p:spPr>
          <a:xfrm>
            <a:off x="868680" y="3977640"/>
            <a:ext cx="2103120" cy="1508760"/>
          </a:xfrm>
          <a:prstGeom prst="roundRect">
            <a:avLst>
              <a:gd fmla="val 4242" name="adj"/>
            </a:avLst>
          </a:prstGeom>
          <a:solidFill>
            <a:srgbClr val="E3EE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2"/>
          <p:cNvSpPr/>
          <p:nvPr/>
        </p:nvSpPr>
        <p:spPr>
          <a:xfrm>
            <a:off x="868680" y="3977640"/>
            <a:ext cx="210312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748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rPr>
              <a:t>image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2"/>
          <p:cNvSpPr/>
          <p:nvPr/>
        </p:nvSpPr>
        <p:spPr>
          <a:xfrm>
            <a:off x="3154680" y="41605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233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C2233"/>
                </a:solidFill>
                <a:latin typeface="Calibri"/>
                <a:ea typeface="Calibri"/>
                <a:cs typeface="Calibri"/>
                <a:sym typeface="Calibri"/>
              </a:rPr>
              <a:t>Scale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2"/>
          <p:cNvSpPr/>
          <p:nvPr/>
        </p:nvSpPr>
        <p:spPr>
          <a:xfrm>
            <a:off x="3154680" y="4617720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A748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rPr>
              <a:t>Small objects vanish after four downsamples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2"/>
          <p:cNvSpPr/>
          <p:nvPr/>
        </p:nvSpPr>
        <p:spPr>
          <a:xfrm>
            <a:off x="6217920" y="3749040"/>
            <a:ext cx="5303520" cy="1965960"/>
          </a:xfrm>
          <a:prstGeom prst="roundRect">
            <a:avLst>
              <a:gd fmla="val 418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25400">
              <a:srgbClr val="0C22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2"/>
          <p:cNvSpPr/>
          <p:nvPr/>
        </p:nvSpPr>
        <p:spPr>
          <a:xfrm>
            <a:off x="6446520" y="3977640"/>
            <a:ext cx="2103120" cy="1508760"/>
          </a:xfrm>
          <a:prstGeom prst="roundRect">
            <a:avLst>
              <a:gd fmla="val 4242" name="adj"/>
            </a:avLst>
          </a:prstGeom>
          <a:solidFill>
            <a:srgbClr val="E3EE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2"/>
          <p:cNvSpPr/>
          <p:nvPr/>
        </p:nvSpPr>
        <p:spPr>
          <a:xfrm>
            <a:off x="6446520" y="3977640"/>
            <a:ext cx="210312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748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rPr>
              <a:t>image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2"/>
          <p:cNvSpPr/>
          <p:nvPr/>
        </p:nvSpPr>
        <p:spPr>
          <a:xfrm>
            <a:off x="8732520" y="41605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233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C2233"/>
                </a:solidFill>
                <a:latin typeface="Calibri"/>
                <a:ea typeface="Calibri"/>
                <a:cs typeface="Calibri"/>
                <a:sym typeface="Calibri"/>
              </a:rPr>
              <a:t>Distribution shift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2"/>
          <p:cNvSpPr/>
          <p:nvPr/>
        </p:nvSpPr>
        <p:spPr>
          <a:xfrm>
            <a:off x="8732520" y="4617720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A748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rPr>
              <a:t>Weather and sensor changes hurt most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2"/>
          <p:cNvSpPr txBox="1"/>
          <p:nvPr>
            <p:ph idx="4294967295" type="sldNum"/>
          </p:nvPr>
        </p:nvSpPr>
        <p:spPr>
          <a:xfrm>
            <a:off x="11338560" y="62636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A748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3"/>
          <p:cNvSpPr txBox="1"/>
          <p:nvPr>
            <p:ph idx="1" type="body"/>
          </p:nvPr>
        </p:nvSpPr>
        <p:spPr>
          <a:xfrm>
            <a:off x="594360" y="1417320"/>
            <a:ext cx="37490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</a:pPr>
            <a:r>
              <a:rPr b="1" lang="en-US"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Residual connections</a:t>
            </a:r>
            <a:endParaRPr sz="2800"/>
          </a:p>
        </p:txBody>
      </p:sp>
      <p:sp>
        <p:nvSpPr>
          <p:cNvPr id="371" name="Google Shape;371;p23"/>
          <p:cNvSpPr txBox="1"/>
          <p:nvPr>
            <p:ph idx="2" type="body"/>
          </p:nvPr>
        </p:nvSpPr>
        <p:spPr>
          <a:xfrm>
            <a:off x="594360" y="3063240"/>
            <a:ext cx="37490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5E1D9"/>
              </a:buClr>
              <a:buSzPts val="1500"/>
              <a:buNone/>
            </a:pPr>
            <a:r>
              <a:rPr lang="en-US" sz="1500">
                <a:solidFill>
                  <a:srgbClr val="95E1D9"/>
                </a:solidFill>
                <a:latin typeface="Calibri"/>
                <a:ea typeface="Calibri"/>
                <a:cs typeface="Calibri"/>
                <a:sym typeface="Calibri"/>
              </a:rPr>
              <a:t>The single change that made networks past 20 layers trainable at all.</a:t>
            </a:r>
            <a:endParaRPr sz="1500"/>
          </a:p>
          <a:p>
            <a:pPr indent="0" lvl="0" marL="0" rtl="0" algn="l">
              <a:spcBef>
                <a:spcPts val="1720"/>
              </a:spcBef>
              <a:spcAft>
                <a:spcPts val="0"/>
              </a:spcAft>
              <a:buClr>
                <a:srgbClr val="F19F22"/>
              </a:buClr>
              <a:buSzPts val="1600"/>
              <a:buNone/>
            </a:pPr>
            <a:r>
              <a:rPr lang="en-US" sz="1600">
                <a:solidFill>
                  <a:srgbClr val="F19F22"/>
                </a:solidFill>
                <a:latin typeface="Courier New"/>
                <a:ea typeface="Courier New"/>
                <a:cs typeface="Courier New"/>
                <a:sym typeface="Courier New"/>
              </a:rPr>
              <a:t>y = F(x) + x</a:t>
            </a:r>
            <a:endParaRPr sz="1500"/>
          </a:p>
        </p:txBody>
      </p:sp>
      <p:sp>
        <p:nvSpPr>
          <p:cNvPr id="372" name="Google Shape;372;p23"/>
          <p:cNvSpPr txBox="1"/>
          <p:nvPr>
            <p:ph idx="3" type="body"/>
          </p:nvPr>
        </p:nvSpPr>
        <p:spPr>
          <a:xfrm>
            <a:off x="5486400" y="1188720"/>
            <a:ext cx="6035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C2233"/>
              </a:buClr>
              <a:buSzPts val="2600"/>
              <a:buNone/>
            </a:pPr>
            <a:r>
              <a:rPr b="1" lang="en-US" sz="2600">
                <a:solidFill>
                  <a:srgbClr val="0C2233"/>
                </a:solidFill>
                <a:latin typeface="Cambria"/>
                <a:ea typeface="Cambria"/>
                <a:cs typeface="Cambria"/>
                <a:sym typeface="Cambria"/>
              </a:rPr>
              <a:t>Why it works</a:t>
            </a:r>
            <a:endParaRPr sz="2600"/>
          </a:p>
        </p:txBody>
      </p:sp>
      <p:sp>
        <p:nvSpPr>
          <p:cNvPr id="373" name="Google Shape;373;p23"/>
          <p:cNvSpPr txBox="1"/>
          <p:nvPr>
            <p:ph idx="4" type="body"/>
          </p:nvPr>
        </p:nvSpPr>
        <p:spPr>
          <a:xfrm>
            <a:off x="5486400" y="1874520"/>
            <a:ext cx="603504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3404F"/>
              </a:buClr>
              <a:buSzPts val="1600"/>
              <a:buChar char="•"/>
            </a:pPr>
            <a:r>
              <a:rPr lang="en-US" sz="1600">
                <a:solidFill>
                  <a:srgbClr val="23404F"/>
                </a:solidFill>
                <a:latin typeface="Calibri"/>
                <a:ea typeface="Calibri"/>
                <a:cs typeface="Calibri"/>
                <a:sym typeface="Calibri"/>
              </a:rPr>
              <a:t>The identity path gives gradients a route back that never passes through a weight matrix.</a:t>
            </a:r>
            <a:endParaRPr sz="1600"/>
          </a:p>
          <a:p>
            <a:pPr indent="-342900" lvl="0" marL="342900" rtl="0" algn="l">
              <a:spcBef>
                <a:spcPts val="1720"/>
              </a:spcBef>
              <a:spcAft>
                <a:spcPts val="0"/>
              </a:spcAft>
              <a:buClr>
                <a:srgbClr val="23404F"/>
              </a:buClr>
              <a:buSzPts val="1600"/>
              <a:buChar char="•"/>
            </a:pPr>
            <a:r>
              <a:rPr lang="en-US" sz="1600">
                <a:solidFill>
                  <a:srgbClr val="23404F"/>
                </a:solidFill>
                <a:latin typeface="Calibri"/>
                <a:ea typeface="Calibri"/>
                <a:cs typeface="Calibri"/>
                <a:sym typeface="Calibri"/>
              </a:rPr>
              <a:t>Each block only has to learn a correction, not a full transformation.</a:t>
            </a:r>
            <a:endParaRPr sz="1600"/>
          </a:p>
          <a:p>
            <a:pPr indent="-342900" lvl="0" marL="342900" rtl="0" algn="l">
              <a:spcBef>
                <a:spcPts val="1720"/>
              </a:spcBef>
              <a:spcAft>
                <a:spcPts val="0"/>
              </a:spcAft>
              <a:buClr>
                <a:srgbClr val="23404F"/>
              </a:buClr>
              <a:buSzPts val="1600"/>
              <a:buChar char="•"/>
            </a:pPr>
            <a:r>
              <a:rPr lang="en-US" sz="1600">
                <a:solidFill>
                  <a:srgbClr val="23404F"/>
                </a:solidFill>
                <a:latin typeface="Calibri"/>
                <a:ea typeface="Calibri"/>
                <a:cs typeface="Calibri"/>
                <a:sym typeface="Calibri"/>
              </a:rPr>
              <a:t>Loss surfaces become measurably smoother — this is empirical, not just intuition.</a:t>
            </a:r>
            <a:endParaRPr sz="1600"/>
          </a:p>
          <a:p>
            <a:pPr indent="-342900" lvl="0" marL="342900" rtl="0" algn="l">
              <a:spcBef>
                <a:spcPts val="1720"/>
              </a:spcBef>
              <a:spcAft>
                <a:spcPts val="0"/>
              </a:spcAft>
              <a:buClr>
                <a:srgbClr val="23404F"/>
              </a:buClr>
              <a:buSzPts val="1600"/>
              <a:buChar char="•"/>
            </a:pPr>
            <a:r>
              <a:rPr lang="en-US" sz="1600">
                <a:solidFill>
                  <a:srgbClr val="23404F"/>
                </a:solidFill>
                <a:latin typeface="Calibri"/>
                <a:ea typeface="Calibri"/>
                <a:cs typeface="Calibri"/>
                <a:sym typeface="Calibri"/>
              </a:rPr>
              <a:t>Costs nothing: no parameters, one addition per block.</a:t>
            </a:r>
            <a:endParaRPr sz="1600"/>
          </a:p>
        </p:txBody>
      </p:sp>
      <p:sp>
        <p:nvSpPr>
          <p:cNvPr id="374" name="Google Shape;374;p23"/>
          <p:cNvSpPr txBox="1"/>
          <p:nvPr>
            <p:ph idx="4294967295" type="sldNum"/>
          </p:nvPr>
        </p:nvSpPr>
        <p:spPr>
          <a:xfrm>
            <a:off x="11338560" y="62636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A748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4"/>
          <p:cNvSpPr txBox="1"/>
          <p:nvPr>
            <p:ph type="title"/>
          </p:nvPr>
        </p:nvSpPr>
        <p:spPr>
          <a:xfrm>
            <a:off x="640080" y="502920"/>
            <a:ext cx="10241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numbers behind the block</a:t>
            </a:r>
            <a:endParaRPr sz="3200"/>
          </a:p>
        </p:txBody>
      </p:sp>
      <p:sp>
        <p:nvSpPr>
          <p:cNvPr id="381" name="Google Shape;381;p24"/>
          <p:cNvSpPr/>
          <p:nvPr/>
        </p:nvSpPr>
        <p:spPr>
          <a:xfrm>
            <a:off x="640080" y="1920240"/>
            <a:ext cx="3429000" cy="2743200"/>
          </a:xfrm>
          <a:prstGeom prst="roundRect">
            <a:avLst>
              <a:gd fmla="val 3000" name="adj"/>
            </a:avLst>
          </a:prstGeom>
          <a:solidFill>
            <a:srgbClr val="16344A"/>
          </a:solidFill>
          <a:ln cap="flat" cmpd="sng" w="12700">
            <a:solidFill>
              <a:srgbClr val="1634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4"/>
          <p:cNvSpPr/>
          <p:nvPr/>
        </p:nvSpPr>
        <p:spPr>
          <a:xfrm>
            <a:off x="640080" y="2286000"/>
            <a:ext cx="3429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5E1D9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95E1D9"/>
                </a:solidFill>
                <a:latin typeface="Cambria"/>
                <a:ea typeface="Cambria"/>
                <a:cs typeface="Cambria"/>
                <a:sym typeface="Cambria"/>
              </a:rPr>
              <a:t>3×3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4"/>
          <p:cNvSpPr/>
          <p:nvPr/>
        </p:nvSpPr>
        <p:spPr>
          <a:xfrm>
            <a:off x="1005840" y="3429000"/>
            <a:ext cx="2697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5E1D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5E1D9"/>
                </a:solidFill>
                <a:latin typeface="Calibri"/>
                <a:ea typeface="Calibri"/>
                <a:cs typeface="Calibri"/>
                <a:sym typeface="Calibri"/>
              </a:rPr>
              <a:t>the kernel size almost everything settled 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4"/>
          <p:cNvSpPr/>
          <p:nvPr/>
        </p:nvSpPr>
        <p:spPr>
          <a:xfrm>
            <a:off x="4343400" y="1920240"/>
            <a:ext cx="3429000" cy="2743200"/>
          </a:xfrm>
          <a:prstGeom prst="roundRect">
            <a:avLst>
              <a:gd fmla="val 3000" name="adj"/>
            </a:avLst>
          </a:prstGeom>
          <a:solidFill>
            <a:srgbClr val="16344A"/>
          </a:solidFill>
          <a:ln cap="flat" cmpd="sng" w="12700">
            <a:solidFill>
              <a:srgbClr val="1634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4"/>
          <p:cNvSpPr/>
          <p:nvPr/>
        </p:nvSpPr>
        <p:spPr>
          <a:xfrm>
            <a:off x="4343400" y="2286000"/>
            <a:ext cx="3429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9F22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19F22"/>
                </a:solidFill>
                <a:latin typeface="Cambria"/>
                <a:ea typeface="Cambria"/>
                <a:cs typeface="Cambria"/>
                <a:sym typeface="Cambria"/>
              </a:rPr>
              <a:t>2×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4"/>
          <p:cNvSpPr/>
          <p:nvPr/>
        </p:nvSpPr>
        <p:spPr>
          <a:xfrm>
            <a:off x="4709160" y="3429000"/>
            <a:ext cx="2697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5E1D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5E1D9"/>
                </a:solidFill>
                <a:latin typeface="Calibri"/>
                <a:ea typeface="Calibri"/>
                <a:cs typeface="Calibri"/>
                <a:sym typeface="Calibri"/>
              </a:rPr>
              <a:t>receptive field per downsample, compounding with depth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4"/>
          <p:cNvSpPr/>
          <p:nvPr/>
        </p:nvSpPr>
        <p:spPr>
          <a:xfrm>
            <a:off x="8046720" y="1920240"/>
            <a:ext cx="3429000" cy="2743200"/>
          </a:xfrm>
          <a:prstGeom prst="roundRect">
            <a:avLst>
              <a:gd fmla="val 3000" name="adj"/>
            </a:avLst>
          </a:prstGeom>
          <a:solidFill>
            <a:srgbClr val="16344A"/>
          </a:solidFill>
          <a:ln cap="flat" cmpd="sng" w="12700">
            <a:solidFill>
              <a:srgbClr val="1634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4"/>
          <p:cNvSpPr/>
          <p:nvPr/>
        </p:nvSpPr>
        <p:spPr>
          <a:xfrm>
            <a:off x="8046720" y="2286000"/>
            <a:ext cx="3429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BEB7A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EBEB7A"/>
                </a:solidFill>
                <a:latin typeface="Cambria"/>
                <a:ea typeface="Cambria"/>
                <a:cs typeface="Cambria"/>
                <a:sym typeface="Cambria"/>
              </a:rPr>
              <a:t>&lt;1%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4"/>
          <p:cNvSpPr/>
          <p:nvPr/>
        </p:nvSpPr>
        <p:spPr>
          <a:xfrm>
            <a:off x="8412480" y="3429000"/>
            <a:ext cx="2697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5E1D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5E1D9"/>
                </a:solidFill>
                <a:latin typeface="Calibri"/>
                <a:ea typeface="Calibri"/>
                <a:cs typeface="Calibri"/>
                <a:sym typeface="Calibri"/>
              </a:rPr>
              <a:t>of parameters live in the first conv layer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5"/>
          <p:cNvSpPr txBox="1"/>
          <p:nvPr>
            <p:ph type="title"/>
          </p:nvPr>
        </p:nvSpPr>
        <p:spPr>
          <a:xfrm>
            <a:off x="640080" y="502920"/>
            <a:ext cx="10241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1" lang="en-US" sz="3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An architecture is a prior. Choose the one whose assumptions your data already satisfies.</a:t>
            </a:r>
            <a:endParaRPr sz="3200"/>
          </a:p>
        </p:txBody>
      </p:sp>
      <p:sp>
        <p:nvSpPr>
          <p:cNvPr id="396" name="Google Shape;396;p25"/>
          <p:cNvSpPr/>
          <p:nvPr/>
        </p:nvSpPr>
        <p:spPr>
          <a:xfrm>
            <a:off x="5715000" y="4434840"/>
            <a:ext cx="731520" cy="91440"/>
          </a:xfrm>
          <a:prstGeom prst="roundRect">
            <a:avLst>
              <a:gd fmla="val 50000" name="adj"/>
            </a:avLst>
          </a:prstGeom>
          <a:solidFill>
            <a:srgbClr val="F19F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5"/>
          <p:cNvSpPr/>
          <p:nvPr/>
        </p:nvSpPr>
        <p:spPr>
          <a:xfrm>
            <a:off x="1463040" y="4754880"/>
            <a:ext cx="9235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C7B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EC7BF"/>
                </a:solidFill>
                <a:latin typeface="Calibri"/>
                <a:ea typeface="Calibri"/>
                <a:cs typeface="Calibri"/>
                <a:sym typeface="Calibri"/>
              </a:rPr>
              <a:t>The framing to carry into your project week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6"/>
          <p:cNvSpPr txBox="1"/>
          <p:nvPr>
            <p:ph type="title"/>
          </p:nvPr>
        </p:nvSpPr>
        <p:spPr>
          <a:xfrm>
            <a:off x="640080" y="502920"/>
            <a:ext cx="10241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C2233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0C2233"/>
                </a:solidFill>
                <a:latin typeface="Cambria"/>
                <a:ea typeface="Cambria"/>
                <a:cs typeface="Cambria"/>
                <a:sym typeface="Cambria"/>
              </a:rPr>
              <a:t>Key concept: receptive field</a:t>
            </a:r>
            <a:endParaRPr sz="3200"/>
          </a:p>
        </p:txBody>
      </p:sp>
      <p:sp>
        <p:nvSpPr>
          <p:cNvPr id="404" name="Google Shape;404;p26"/>
          <p:cNvSpPr/>
          <p:nvPr/>
        </p:nvSpPr>
        <p:spPr>
          <a:xfrm>
            <a:off x="640080" y="1600200"/>
            <a:ext cx="10881360" cy="1737360"/>
          </a:xfrm>
          <a:prstGeom prst="roundRect">
            <a:avLst>
              <a:gd fmla="val 4737" name="adj"/>
            </a:avLst>
          </a:prstGeom>
          <a:solidFill>
            <a:srgbClr val="0C2233"/>
          </a:solidFill>
          <a:ln cap="flat" cmpd="sng" w="12700">
            <a:solidFill>
              <a:srgbClr val="0C2233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25400">
              <a:srgbClr val="0C22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6"/>
          <p:cNvSpPr/>
          <p:nvPr/>
        </p:nvSpPr>
        <p:spPr>
          <a:xfrm>
            <a:off x="1097280" y="187452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9F2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19F22"/>
                </a:solidFill>
                <a:latin typeface="Calibri"/>
                <a:ea typeface="Calibri"/>
                <a:cs typeface="Calibri"/>
                <a:sym typeface="Calibri"/>
              </a:rPr>
              <a:t>Receptive field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6"/>
          <p:cNvSpPr/>
          <p:nvPr/>
        </p:nvSpPr>
        <p:spPr>
          <a:xfrm>
            <a:off x="1097280" y="2286000"/>
            <a:ext cx="9966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region of the input that can influence one output activation. If it is smaller than the object you care about, no amount of training will fix the model.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6"/>
          <p:cNvSpPr/>
          <p:nvPr/>
        </p:nvSpPr>
        <p:spPr>
          <a:xfrm>
            <a:off x="640080" y="3657600"/>
            <a:ext cx="3429000" cy="1965960"/>
          </a:xfrm>
          <a:prstGeom prst="roundRect">
            <a:avLst>
              <a:gd fmla="val 418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25400">
              <a:srgbClr val="0C22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6"/>
          <p:cNvSpPr/>
          <p:nvPr/>
        </p:nvSpPr>
        <p:spPr>
          <a:xfrm>
            <a:off x="960120" y="3931920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6B93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46B93"/>
                </a:solidFill>
                <a:latin typeface="Calibri"/>
                <a:ea typeface="Calibri"/>
                <a:cs typeface="Calibri"/>
                <a:sym typeface="Calibri"/>
              </a:rPr>
              <a:t>Compute it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6"/>
          <p:cNvSpPr/>
          <p:nvPr/>
        </p:nvSpPr>
        <p:spPr>
          <a:xfrm>
            <a:off x="960120" y="4370832"/>
            <a:ext cx="27889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404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3404F"/>
                </a:solidFill>
                <a:latin typeface="Calibri"/>
                <a:ea typeface="Calibri"/>
                <a:cs typeface="Calibri"/>
                <a:sym typeface="Calibri"/>
              </a:rPr>
              <a:t>Track it layer by layer before you train — it is arithmetic, not a hyperparameter.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6"/>
          <p:cNvSpPr/>
          <p:nvPr/>
        </p:nvSpPr>
        <p:spPr>
          <a:xfrm>
            <a:off x="4343400" y="3657600"/>
            <a:ext cx="3429000" cy="1965960"/>
          </a:xfrm>
          <a:prstGeom prst="roundRect">
            <a:avLst>
              <a:gd fmla="val 418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25400">
              <a:srgbClr val="0C22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6"/>
          <p:cNvSpPr/>
          <p:nvPr/>
        </p:nvSpPr>
        <p:spPr>
          <a:xfrm>
            <a:off x="4663440" y="3931920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6B93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46B93"/>
                </a:solidFill>
                <a:latin typeface="Calibri"/>
                <a:ea typeface="Calibri"/>
                <a:cs typeface="Calibri"/>
                <a:sym typeface="Calibri"/>
              </a:rPr>
              <a:t>Grow it cheaply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6"/>
          <p:cNvSpPr/>
          <p:nvPr/>
        </p:nvSpPr>
        <p:spPr>
          <a:xfrm>
            <a:off x="4663440" y="4370832"/>
            <a:ext cx="27889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404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3404F"/>
                </a:solidFill>
                <a:latin typeface="Calibri"/>
                <a:ea typeface="Calibri"/>
                <a:cs typeface="Calibri"/>
                <a:sym typeface="Calibri"/>
              </a:rPr>
              <a:t>Dilation and stride buy range without buying parameters.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6"/>
          <p:cNvSpPr/>
          <p:nvPr/>
        </p:nvSpPr>
        <p:spPr>
          <a:xfrm>
            <a:off x="8046720" y="3657600"/>
            <a:ext cx="3429000" cy="1965960"/>
          </a:xfrm>
          <a:prstGeom prst="roundRect">
            <a:avLst>
              <a:gd fmla="val 418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25400">
              <a:srgbClr val="0C22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6"/>
          <p:cNvSpPr/>
          <p:nvPr/>
        </p:nvSpPr>
        <p:spPr>
          <a:xfrm>
            <a:off x="8366760" y="3931920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6B93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46B93"/>
                </a:solidFill>
                <a:latin typeface="Calibri"/>
                <a:ea typeface="Calibri"/>
                <a:cs typeface="Calibri"/>
                <a:sym typeface="Calibri"/>
              </a:rPr>
              <a:t>Check it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6"/>
          <p:cNvSpPr/>
          <p:nvPr/>
        </p:nvSpPr>
        <p:spPr>
          <a:xfrm>
            <a:off x="8366760" y="4370832"/>
            <a:ext cx="27889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404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3404F"/>
                </a:solidFill>
                <a:latin typeface="Calibri"/>
                <a:ea typeface="Calibri"/>
                <a:cs typeface="Calibri"/>
                <a:sym typeface="Calibri"/>
              </a:rPr>
              <a:t>If it exceeds the whole image, extra depth is only adding parameters.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6"/>
          <p:cNvSpPr txBox="1"/>
          <p:nvPr>
            <p:ph idx="4294967295" type="sldNum"/>
          </p:nvPr>
        </p:nvSpPr>
        <p:spPr>
          <a:xfrm>
            <a:off x="11338560" y="62636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A748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7"/>
          <p:cNvSpPr txBox="1"/>
          <p:nvPr>
            <p:ph type="title"/>
          </p:nvPr>
        </p:nvSpPr>
        <p:spPr>
          <a:xfrm>
            <a:off x="640080" y="502920"/>
            <a:ext cx="10241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C2233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0C2233"/>
                </a:solidFill>
                <a:latin typeface="Cambria"/>
                <a:ea typeface="Cambria"/>
                <a:cs typeface="Cambria"/>
                <a:sym typeface="Cambria"/>
              </a:rPr>
              <a:t>Hands-on — 15 minutes</a:t>
            </a:r>
            <a:endParaRPr sz="3200"/>
          </a:p>
        </p:txBody>
      </p:sp>
      <p:sp>
        <p:nvSpPr>
          <p:cNvPr id="423" name="Google Shape;423;p27"/>
          <p:cNvSpPr/>
          <p:nvPr/>
        </p:nvSpPr>
        <p:spPr>
          <a:xfrm>
            <a:off x="640080" y="1600200"/>
            <a:ext cx="7040880" cy="3977640"/>
          </a:xfrm>
          <a:prstGeom prst="roundRect">
            <a:avLst>
              <a:gd fmla="val 206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25400">
              <a:srgbClr val="0C22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7"/>
          <p:cNvSpPr/>
          <p:nvPr/>
        </p:nvSpPr>
        <p:spPr>
          <a:xfrm>
            <a:off x="1051560" y="18745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6B93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46B93"/>
                </a:solidFill>
                <a:latin typeface="Calibri"/>
                <a:ea typeface="Calibri"/>
                <a:cs typeface="Calibri"/>
                <a:sym typeface="Calibri"/>
              </a:rPr>
              <a:t>Your task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7"/>
          <p:cNvSpPr/>
          <p:nvPr/>
        </p:nvSpPr>
        <p:spPr>
          <a:xfrm>
            <a:off x="1051560" y="2377440"/>
            <a:ext cx="384048" cy="384048"/>
          </a:xfrm>
          <a:prstGeom prst="ellipse">
            <a:avLst/>
          </a:prstGeom>
          <a:solidFill>
            <a:srgbClr val="146B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7"/>
          <p:cNvSpPr/>
          <p:nvPr/>
        </p:nvSpPr>
        <p:spPr>
          <a:xfrm>
            <a:off x="1051560" y="23774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7"/>
          <p:cNvSpPr/>
          <p:nvPr/>
        </p:nvSpPr>
        <p:spPr>
          <a:xfrm>
            <a:off x="1600200" y="2377440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404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3404F"/>
                </a:solidFill>
                <a:latin typeface="Calibri"/>
                <a:ea typeface="Calibri"/>
                <a:cs typeface="Calibri"/>
                <a:sym typeface="Calibri"/>
              </a:rPr>
              <a:t>Load the CIFAR-10 subset from the shared notebook.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7"/>
          <p:cNvSpPr/>
          <p:nvPr/>
        </p:nvSpPr>
        <p:spPr>
          <a:xfrm>
            <a:off x="1051560" y="3127248"/>
            <a:ext cx="384048" cy="384048"/>
          </a:xfrm>
          <a:prstGeom prst="ellipse">
            <a:avLst/>
          </a:prstGeom>
          <a:solidFill>
            <a:srgbClr val="146B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7"/>
          <p:cNvSpPr/>
          <p:nvPr/>
        </p:nvSpPr>
        <p:spPr>
          <a:xfrm>
            <a:off x="1051560" y="312724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7"/>
          <p:cNvSpPr/>
          <p:nvPr/>
        </p:nvSpPr>
        <p:spPr>
          <a:xfrm>
            <a:off x="1600200" y="3127248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404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3404F"/>
                </a:solidFill>
                <a:latin typeface="Calibri"/>
                <a:ea typeface="Calibri"/>
                <a:cs typeface="Calibri"/>
                <a:sym typeface="Calibri"/>
              </a:rPr>
              <a:t>Build a 3-block conv stack and report the parameter count.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7"/>
          <p:cNvSpPr/>
          <p:nvPr/>
        </p:nvSpPr>
        <p:spPr>
          <a:xfrm>
            <a:off x="1051560" y="3877056"/>
            <a:ext cx="384048" cy="384048"/>
          </a:xfrm>
          <a:prstGeom prst="ellipse">
            <a:avLst/>
          </a:prstGeom>
          <a:solidFill>
            <a:srgbClr val="146B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7"/>
          <p:cNvSpPr/>
          <p:nvPr/>
        </p:nvSpPr>
        <p:spPr>
          <a:xfrm>
            <a:off x="1051560" y="38770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7"/>
          <p:cNvSpPr/>
          <p:nvPr/>
        </p:nvSpPr>
        <p:spPr>
          <a:xfrm>
            <a:off x="1600200" y="3877056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404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3404F"/>
                </a:solidFill>
                <a:latin typeface="Calibri"/>
                <a:ea typeface="Calibri"/>
                <a:cs typeface="Calibri"/>
                <a:sym typeface="Calibri"/>
              </a:rPr>
              <a:t>Compute the receptive field of the last layer by hand.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7"/>
          <p:cNvSpPr/>
          <p:nvPr/>
        </p:nvSpPr>
        <p:spPr>
          <a:xfrm>
            <a:off x="1051560" y="4626864"/>
            <a:ext cx="384048" cy="384048"/>
          </a:xfrm>
          <a:prstGeom prst="ellipse">
            <a:avLst/>
          </a:prstGeom>
          <a:solidFill>
            <a:srgbClr val="146B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7"/>
          <p:cNvSpPr/>
          <p:nvPr/>
        </p:nvSpPr>
        <p:spPr>
          <a:xfrm>
            <a:off x="1051560" y="462686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7"/>
          <p:cNvSpPr/>
          <p:nvPr/>
        </p:nvSpPr>
        <p:spPr>
          <a:xfrm>
            <a:off x="1600200" y="4626864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404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3404F"/>
                </a:solidFill>
                <a:latin typeface="Calibri"/>
                <a:ea typeface="Calibri"/>
                <a:cs typeface="Calibri"/>
                <a:sym typeface="Calibri"/>
              </a:rPr>
              <a:t>Train for 3 epochs and note where it starts overfitting.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7"/>
          <p:cNvSpPr/>
          <p:nvPr/>
        </p:nvSpPr>
        <p:spPr>
          <a:xfrm>
            <a:off x="8001000" y="1600200"/>
            <a:ext cx="3520440" cy="3977640"/>
          </a:xfrm>
          <a:prstGeom prst="roundRect">
            <a:avLst>
              <a:gd fmla="val 2338" name="adj"/>
            </a:avLst>
          </a:prstGeom>
          <a:solidFill>
            <a:srgbClr val="0C2233"/>
          </a:solidFill>
          <a:ln cap="flat" cmpd="sng" w="12700">
            <a:solidFill>
              <a:srgbClr val="0C2233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25400">
              <a:srgbClr val="0C22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7"/>
          <p:cNvSpPr/>
          <p:nvPr/>
        </p:nvSpPr>
        <p:spPr>
          <a:xfrm>
            <a:off x="8321040" y="18745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9F2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19F22"/>
                </a:solidFill>
                <a:latin typeface="Calibri"/>
                <a:ea typeface="Calibri"/>
                <a:cs typeface="Calibri"/>
                <a:sym typeface="Calibri"/>
              </a:rPr>
              <a:t>You will need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7"/>
          <p:cNvSpPr/>
          <p:nvPr/>
        </p:nvSpPr>
        <p:spPr>
          <a:xfrm>
            <a:off x="8321040" y="2377440"/>
            <a:ext cx="292608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5E1D9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5E1D9"/>
                </a:solidFill>
                <a:latin typeface="Courier New"/>
                <a:ea typeface="Courier New"/>
                <a:cs typeface="Courier New"/>
                <a:sym typeface="Courier New"/>
              </a:rPr>
              <a:t>notebooks/cnn-lab.ipynb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 GPU per team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Mentor on call in the main hall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 your parameter count in the channel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7"/>
          <p:cNvSpPr txBox="1"/>
          <p:nvPr>
            <p:ph idx="4294967295" type="sldNum"/>
          </p:nvPr>
        </p:nvSpPr>
        <p:spPr>
          <a:xfrm>
            <a:off x="11338560" y="62636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A748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A748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8"/>
          <p:cNvSpPr txBox="1"/>
          <p:nvPr>
            <p:ph type="title"/>
          </p:nvPr>
        </p:nvSpPr>
        <p:spPr>
          <a:xfrm>
            <a:off x="640080" y="502920"/>
            <a:ext cx="10241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Three things to remember</a:t>
            </a:r>
            <a:endParaRPr sz="3200"/>
          </a:p>
        </p:txBody>
      </p:sp>
      <p:sp>
        <p:nvSpPr>
          <p:cNvPr id="447" name="Google Shape;447;p28"/>
          <p:cNvSpPr/>
          <p:nvPr/>
        </p:nvSpPr>
        <p:spPr>
          <a:xfrm>
            <a:off x="640080" y="1600200"/>
            <a:ext cx="10881360" cy="1234440"/>
          </a:xfrm>
          <a:prstGeom prst="roundRect">
            <a:avLst>
              <a:gd fmla="val 6667" name="adj"/>
            </a:avLst>
          </a:prstGeom>
          <a:solidFill>
            <a:srgbClr val="16344A"/>
          </a:solidFill>
          <a:ln cap="flat" cmpd="sng" w="12700">
            <a:solidFill>
              <a:srgbClr val="1634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8"/>
          <p:cNvSpPr/>
          <p:nvPr/>
        </p:nvSpPr>
        <p:spPr>
          <a:xfrm>
            <a:off x="960120" y="1965960"/>
            <a:ext cx="502920" cy="502920"/>
          </a:xfrm>
          <a:prstGeom prst="ellipse">
            <a:avLst/>
          </a:prstGeom>
          <a:solidFill>
            <a:srgbClr val="F19F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8"/>
          <p:cNvSpPr/>
          <p:nvPr/>
        </p:nvSpPr>
        <p:spPr>
          <a:xfrm>
            <a:off x="960120" y="19659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2233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C2233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8"/>
          <p:cNvSpPr/>
          <p:nvPr/>
        </p:nvSpPr>
        <p:spPr>
          <a:xfrm>
            <a:off x="1691640" y="1801368"/>
            <a:ext cx="9509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Weight sharing is the whole idea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8"/>
          <p:cNvSpPr/>
          <p:nvPr/>
        </p:nvSpPr>
        <p:spPr>
          <a:xfrm>
            <a:off x="1691640" y="2240280"/>
            <a:ext cx="9509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E1D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5E1D9"/>
                </a:solidFill>
                <a:latin typeface="Calibri"/>
                <a:ea typeface="Calibri"/>
                <a:cs typeface="Calibri"/>
                <a:sym typeface="Calibri"/>
              </a:rPr>
              <a:t>One kernel, applied everywhere — that is where the parameter saving and the equivariance both come from.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8"/>
          <p:cNvSpPr/>
          <p:nvPr/>
        </p:nvSpPr>
        <p:spPr>
          <a:xfrm>
            <a:off x="640080" y="3017520"/>
            <a:ext cx="10881360" cy="1234440"/>
          </a:xfrm>
          <a:prstGeom prst="roundRect">
            <a:avLst>
              <a:gd fmla="val 6667" name="adj"/>
            </a:avLst>
          </a:prstGeom>
          <a:solidFill>
            <a:srgbClr val="16344A"/>
          </a:solidFill>
          <a:ln cap="flat" cmpd="sng" w="12700">
            <a:solidFill>
              <a:srgbClr val="1634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8"/>
          <p:cNvSpPr/>
          <p:nvPr/>
        </p:nvSpPr>
        <p:spPr>
          <a:xfrm>
            <a:off x="960120" y="3383280"/>
            <a:ext cx="502920" cy="502920"/>
          </a:xfrm>
          <a:prstGeom prst="ellipse">
            <a:avLst/>
          </a:prstGeom>
          <a:solidFill>
            <a:srgbClr val="F19F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8"/>
          <p:cNvSpPr/>
          <p:nvPr/>
        </p:nvSpPr>
        <p:spPr>
          <a:xfrm>
            <a:off x="960120" y="33832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2233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C223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8"/>
          <p:cNvSpPr/>
          <p:nvPr/>
        </p:nvSpPr>
        <p:spPr>
          <a:xfrm>
            <a:off x="1691640" y="3218688"/>
            <a:ext cx="9509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Receptive field is a design variable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8"/>
          <p:cNvSpPr/>
          <p:nvPr/>
        </p:nvSpPr>
        <p:spPr>
          <a:xfrm>
            <a:off x="1691640" y="3657600"/>
            <a:ext cx="9509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E1D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5E1D9"/>
                </a:solidFill>
                <a:latin typeface="Calibri"/>
                <a:ea typeface="Calibri"/>
                <a:cs typeface="Calibri"/>
                <a:sym typeface="Calibri"/>
              </a:rPr>
              <a:t>Stride, dilation and depth are the knobs. Compute it before you train, not after.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8"/>
          <p:cNvSpPr/>
          <p:nvPr/>
        </p:nvSpPr>
        <p:spPr>
          <a:xfrm>
            <a:off x="640080" y="4434840"/>
            <a:ext cx="10881360" cy="1234440"/>
          </a:xfrm>
          <a:prstGeom prst="roundRect">
            <a:avLst>
              <a:gd fmla="val 6667" name="adj"/>
            </a:avLst>
          </a:prstGeom>
          <a:solidFill>
            <a:srgbClr val="16344A"/>
          </a:solidFill>
          <a:ln cap="flat" cmpd="sng" w="12700">
            <a:solidFill>
              <a:srgbClr val="1634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8"/>
          <p:cNvSpPr/>
          <p:nvPr/>
        </p:nvSpPr>
        <p:spPr>
          <a:xfrm>
            <a:off x="960120" y="4800600"/>
            <a:ext cx="502920" cy="502920"/>
          </a:xfrm>
          <a:prstGeom prst="ellipse">
            <a:avLst/>
          </a:prstGeom>
          <a:solidFill>
            <a:srgbClr val="F19F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8"/>
          <p:cNvSpPr/>
          <p:nvPr/>
        </p:nvSpPr>
        <p:spPr>
          <a:xfrm>
            <a:off x="960120" y="48006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2233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C223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8"/>
          <p:cNvSpPr/>
          <p:nvPr/>
        </p:nvSpPr>
        <p:spPr>
          <a:xfrm>
            <a:off x="1691640" y="4636008"/>
            <a:ext cx="9509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Architecture matters less than data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8"/>
          <p:cNvSpPr/>
          <p:nvPr/>
        </p:nvSpPr>
        <p:spPr>
          <a:xfrm>
            <a:off x="1691640" y="5074920"/>
            <a:ext cx="9509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E1D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5E1D9"/>
                </a:solidFill>
                <a:latin typeface="Calibri"/>
                <a:ea typeface="Calibri"/>
                <a:cs typeface="Calibri"/>
                <a:sym typeface="Calibri"/>
              </a:rPr>
              <a:t>Past a reasonable baseline, augmentation and dataset quality move the number more than the block design.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9"/>
          <p:cNvSpPr txBox="1"/>
          <p:nvPr>
            <p:ph type="title"/>
          </p:nvPr>
        </p:nvSpPr>
        <p:spPr>
          <a:xfrm>
            <a:off x="640080" y="502920"/>
            <a:ext cx="10241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Questions?</a:t>
            </a:r>
            <a:endParaRPr sz="3200"/>
          </a:p>
        </p:txBody>
      </p:sp>
      <p:sp>
        <p:nvSpPr>
          <p:cNvPr id="468" name="Google Shape;468;p29"/>
          <p:cNvSpPr/>
          <p:nvPr/>
        </p:nvSpPr>
        <p:spPr>
          <a:xfrm>
            <a:off x="640080" y="2423160"/>
            <a:ext cx="6217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E1D9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95E1D9"/>
                </a:solidFill>
                <a:latin typeface="Calibri"/>
                <a:ea typeface="Calibri"/>
                <a:cs typeface="Calibri"/>
                <a:sym typeface="Calibri"/>
              </a:rPr>
              <a:t>Slides, notebooks and the project brief are in the shared PSIML 11 drive.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9"/>
          <p:cNvSpPr/>
          <p:nvPr/>
        </p:nvSpPr>
        <p:spPr>
          <a:xfrm>
            <a:off x="640080" y="3429000"/>
            <a:ext cx="62179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Ime Prezime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E1D9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5E1D9"/>
                </a:solidFill>
                <a:latin typeface="Calibri"/>
                <a:ea typeface="Calibri"/>
                <a:cs typeface="Calibri"/>
                <a:sym typeface="Calibri"/>
              </a:rPr>
              <a:t>ime.prezime@example.com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C7B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EC7BF"/>
                </a:solidFill>
                <a:latin typeface="Calibri"/>
                <a:ea typeface="Calibri"/>
                <a:cs typeface="Calibri"/>
                <a:sym typeface="Calibri"/>
              </a:rPr>
              <a:t>github.com/handle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9"/>
          <p:cNvSpPr/>
          <p:nvPr/>
        </p:nvSpPr>
        <p:spPr>
          <a:xfrm>
            <a:off x="7406640" y="1325880"/>
            <a:ext cx="4114800" cy="4206240"/>
          </a:xfrm>
          <a:prstGeom prst="roundRect">
            <a:avLst>
              <a:gd fmla="val 2000" name="adj"/>
            </a:avLst>
          </a:prstGeom>
          <a:solidFill>
            <a:srgbClr val="16344A"/>
          </a:solidFill>
          <a:ln cap="flat" cmpd="sng" w="12700">
            <a:solidFill>
              <a:srgbClr val="1634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9"/>
          <p:cNvSpPr/>
          <p:nvPr/>
        </p:nvSpPr>
        <p:spPr>
          <a:xfrm>
            <a:off x="7726680" y="160020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9F2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19F22"/>
                </a:solidFill>
                <a:latin typeface="Calibri"/>
                <a:ea typeface="Calibri"/>
                <a:cs typeface="Calibri"/>
                <a:sym typeface="Calibri"/>
              </a:rPr>
              <a:t>Further reading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9"/>
          <p:cNvSpPr/>
          <p:nvPr/>
        </p:nvSpPr>
        <p:spPr>
          <a:xfrm>
            <a:off x="7726680" y="2148840"/>
            <a:ext cx="356616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5E1D9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95E1D9"/>
                </a:solidFill>
                <a:latin typeface="Calibri"/>
                <a:ea typeface="Calibri"/>
                <a:cs typeface="Calibri"/>
                <a:sym typeface="Calibri"/>
              </a:rPr>
              <a:t>Goodfellow, Bengio, Courville — Deep Learning, ch. 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95E1D9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95E1D9"/>
                </a:solidFill>
                <a:latin typeface="Calibri"/>
                <a:ea typeface="Calibri"/>
                <a:cs typeface="Calibri"/>
                <a:sym typeface="Calibri"/>
              </a:rPr>
              <a:t>He et al., Deep Residual Learning, CVPR 2016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95E1D9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95E1D9"/>
                </a:solidFill>
                <a:latin typeface="Calibri"/>
                <a:ea typeface="Calibri"/>
                <a:cs typeface="Calibri"/>
                <a:sym typeface="Calibri"/>
              </a:rPr>
              <a:t>Dumoulin &amp; Visin, A guide to convolution arithmetic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95E1D9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95E1D9"/>
                </a:solidFill>
                <a:latin typeface="Calibri"/>
                <a:ea typeface="Calibri"/>
                <a:cs typeface="Calibri"/>
                <a:sym typeface="Calibri"/>
              </a:rPr>
              <a:t>Liu et al., A ConvNet for the 2020s, CVPR 2022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